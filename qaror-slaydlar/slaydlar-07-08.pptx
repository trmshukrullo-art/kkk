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9380200" cy="10922000"/>
  <p:notesSz cx="10922000" cy="19380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Иқтидорли ёшларни қўллаб-қувватлаш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Лойиҳа офиси, халқаро ҳамкорлик ва ижро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1"/>
          <p:cNvSpPr/>
          <p:nvPr/>
        </p:nvSpPr>
        <p:spPr>
          <a:xfrm>
            <a:off x="0" y="0"/>
            <a:ext cx="19380200" cy="647700"/>
          </a:xfrm>
          <a:prstGeom prst="rect">
            <a:avLst/>
          </a:prstGeom>
          <a:solidFill>
            <a:srgbClr val="17254A"/>
          </a:solidFill>
          <a:ln/>
        </p:spPr>
      </p:sp>
      <p:sp>
        <p:nvSpPr>
          <p:cNvPr id="3" name="text-2"/>
          <p:cNvSpPr txBox="1"/>
          <p:nvPr/>
        </p:nvSpPr>
        <p:spPr>
          <a:xfrm>
            <a:off x="355600" y="165100"/>
            <a:ext cx="7466767" cy="39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ИҚТИДОРЛИ ЁШЛАРНИ ҚЎЛЛАБ-ҚУВВАТЛАШ</a:t>
            </a:r>
            <a:endParaRPr lang="en-US" sz="2100" dirty="0"/>
          </a:p>
        </p:txBody>
      </p:sp>
      <p:sp>
        <p:nvSpPr>
          <p:cNvPr id="4" name="text-3"/>
          <p:cNvSpPr txBox="1"/>
          <p:nvPr/>
        </p:nvSpPr>
        <p:spPr>
          <a:xfrm>
            <a:off x="18501519" y="57150"/>
            <a:ext cx="668560" cy="64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3400" dirty="0"/>
          </a:p>
        </p:txBody>
      </p:sp>
      <p:sp>
        <p:nvSpPr>
          <p:cNvPr id="5" name="box-4"/>
          <p:cNvSpPr/>
          <p:nvPr/>
        </p:nvSpPr>
        <p:spPr>
          <a:xfrm>
            <a:off x="0" y="647700"/>
            <a:ext cx="19380200" cy="63500"/>
          </a:xfrm>
          <a:prstGeom prst="rect">
            <a:avLst/>
          </a:prstGeom>
          <a:solidFill>
            <a:srgbClr val="2FC1FF"/>
          </a:solidFill>
          <a:ln/>
        </p:spPr>
      </p:sp>
      <p:sp>
        <p:nvSpPr>
          <p:cNvPr id="6" name="box-5"/>
          <p:cNvSpPr/>
          <p:nvPr/>
        </p:nvSpPr>
        <p:spPr>
          <a:xfrm>
            <a:off x="304800" y="1092200"/>
            <a:ext cx="18770600" cy="4484688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7" name="box-6"/>
          <p:cNvSpPr/>
          <p:nvPr/>
        </p:nvSpPr>
        <p:spPr>
          <a:xfrm>
            <a:off x="5457130" y="914400"/>
            <a:ext cx="8465939" cy="355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-7"/>
          <p:cNvSpPr txBox="1"/>
          <p:nvPr/>
        </p:nvSpPr>
        <p:spPr>
          <a:xfrm>
            <a:off x="5634930" y="939800"/>
            <a:ext cx="883536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7CC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“МЕНИНГ БИРИНЧИ НОУТБУКИМ” МИЛЛИЙ ТАШАББУСИ</a:t>
            </a:r>
            <a:endParaRPr lang="en-US" sz="2000" dirty="0"/>
          </a:p>
        </p:txBody>
      </p:sp>
      <p:sp>
        <p:nvSpPr>
          <p:cNvPr id="9" name="box-8"/>
          <p:cNvSpPr/>
          <p:nvPr/>
        </p:nvSpPr>
        <p:spPr>
          <a:xfrm>
            <a:off x="533400" y="1498600"/>
            <a:ext cx="3327400" cy="3849688"/>
          </a:xfrm>
          <a:prstGeom prst="roundRect">
            <a:avLst>
              <a:gd name="adj" fmla="val 4580"/>
            </a:avLst>
          </a:prstGeom>
          <a:solidFill>
            <a:srgbClr val="F4FAFE"/>
          </a:solidFill>
          <a:ln/>
        </p:spPr>
      </p:sp>
      <p:pic>
        <p:nvPicPr>
          <p:cNvPr id="10" name="icon-9" descr="lap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2241748"/>
            <a:ext cx="730250" cy="5842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787400" y="2889448"/>
            <a:ext cx="2551724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МИНГ</a:t>
            </a:r>
            <a:endParaRPr lang="en-US" sz="4000" dirty="0"/>
          </a:p>
        </p:txBody>
      </p:sp>
      <p:sp>
        <p:nvSpPr>
          <p:cNvPr id="12" name="text-11"/>
          <p:cNvSpPr txBox="1"/>
          <p:nvPr/>
        </p:nvSpPr>
        <p:spPr>
          <a:xfrm>
            <a:off x="787400" y="3587948"/>
            <a:ext cx="1158478" cy="29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нафар ёш</a:t>
            </a:r>
            <a:endParaRPr lang="en-US" sz="1500" dirty="0"/>
          </a:p>
        </p:txBody>
      </p:sp>
      <p:sp>
        <p:nvSpPr>
          <p:cNvPr id="13" name="box-12"/>
          <p:cNvSpPr/>
          <p:nvPr/>
        </p:nvSpPr>
        <p:spPr>
          <a:xfrm>
            <a:off x="787400" y="3981648"/>
            <a:ext cx="2819400" cy="25400"/>
          </a:xfrm>
          <a:prstGeom prst="rect">
            <a:avLst/>
          </a:prstGeom>
          <a:solidFill>
            <a:srgbClr val="05BAB6"/>
          </a:solidFill>
          <a:ln/>
        </p:spPr>
      </p:sp>
      <p:sp>
        <p:nvSpPr>
          <p:cNvPr id="14" name="text-13"/>
          <p:cNvSpPr txBox="1"/>
          <p:nvPr/>
        </p:nvSpPr>
        <p:spPr>
          <a:xfrm>
            <a:off x="787400" y="4159448"/>
            <a:ext cx="2759937" cy="48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йилдан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бошлаб ноутбук билан таъминланади</a:t>
            </a:r>
            <a:endParaRPr lang="en-US" sz="1300" dirty="0"/>
          </a:p>
        </p:txBody>
      </p:sp>
      <p:sp>
        <p:nvSpPr>
          <p:cNvPr id="15" name="box-14"/>
          <p:cNvSpPr/>
          <p:nvPr/>
        </p:nvSpPr>
        <p:spPr>
          <a:xfrm>
            <a:off x="4038600" y="1498600"/>
            <a:ext cx="5080000" cy="3849688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sp>
        <p:nvSpPr>
          <p:cNvPr id="16" name="text-15"/>
          <p:cNvSpPr txBox="1"/>
          <p:nvPr/>
        </p:nvSpPr>
        <p:spPr>
          <a:xfrm>
            <a:off x="5328349" y="2079823"/>
            <a:ext cx="2500503" cy="28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Харажатлар тақсимоти</a:t>
            </a:r>
            <a:endParaRPr lang="en-US" sz="1400" dirty="0"/>
          </a:p>
        </p:txBody>
      </p:sp>
      <p:sp>
        <p:nvSpPr>
          <p:cNvPr id="17" name="donut-16"/>
          <p:cNvSpPr/>
          <p:nvPr/>
        </p:nvSpPr>
        <p:spPr>
          <a:xfrm>
            <a:off x="4368800" y="2575520"/>
            <a:ext cx="1727200" cy="1727200"/>
          </a:xfrm>
          <a:prstGeom prst="blockArc">
            <a:avLst>
              <a:gd name="adj1" fmla="val 16200000"/>
              <a:gd name="adj2" fmla="val 5400000"/>
              <a:gd name="adj3" fmla="val 11765"/>
            </a:avLst>
          </a:prstGeom>
          <a:solidFill>
            <a:srgbClr val="026DD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donut-17"/>
          <p:cNvSpPr/>
          <p:nvPr/>
        </p:nvSpPr>
        <p:spPr>
          <a:xfrm>
            <a:off x="4368800" y="2575520"/>
            <a:ext cx="1727200" cy="1727200"/>
          </a:xfrm>
          <a:prstGeom prst="blockArc">
            <a:avLst>
              <a:gd name="adj1" fmla="val 5400000"/>
              <a:gd name="adj2" fmla="val 16200000"/>
              <a:gd name="adj3" fmla="val 11765"/>
            </a:avLst>
          </a:prstGeom>
          <a:solidFill>
            <a:srgbClr val="05BAB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-18"/>
          <p:cNvSpPr txBox="1"/>
          <p:nvPr/>
        </p:nvSpPr>
        <p:spPr>
          <a:xfrm>
            <a:off x="4664519" y="3153370"/>
            <a:ext cx="1135761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50 / 50</a:t>
            </a:r>
            <a:endParaRPr lang="en-US" sz="2200" dirty="0"/>
          </a:p>
        </p:txBody>
      </p:sp>
      <p:sp>
        <p:nvSpPr>
          <p:cNvPr id="20" name="text-19"/>
          <p:cNvSpPr txBox="1"/>
          <p:nvPr/>
        </p:nvSpPr>
        <p:spPr>
          <a:xfrm>
            <a:off x="4607084" y="3508970"/>
            <a:ext cx="1250633" cy="22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2"/>
              </a:lnSpc>
              <a:buNone/>
            </a:pPr>
            <a:r>
              <a:rPr lang="en-US" sz="1100" dirty="0">
                <a:solidFill>
                  <a:srgbClr val="5E6B7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ноутбук нархи</a:t>
            </a:r>
            <a:endParaRPr lang="en-US" sz="1100" dirty="0"/>
          </a:p>
        </p:txBody>
      </p:sp>
      <p:sp>
        <p:nvSpPr>
          <p:cNvPr id="21" name="box-20"/>
          <p:cNvSpPr/>
          <p:nvPr/>
        </p:nvSpPr>
        <p:spPr>
          <a:xfrm>
            <a:off x="6388100" y="2511623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26DD1"/>
          </a:solidFill>
          <a:ln/>
        </p:spPr>
      </p:sp>
      <p:sp>
        <p:nvSpPr>
          <p:cNvPr id="22" name="text-21"/>
          <p:cNvSpPr txBox="1"/>
          <p:nvPr/>
        </p:nvSpPr>
        <p:spPr>
          <a:xfrm>
            <a:off x="6718300" y="2460823"/>
            <a:ext cx="646700" cy="36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50%</a:t>
            </a:r>
            <a:endParaRPr lang="en-US" sz="1900" dirty="0"/>
          </a:p>
        </p:txBody>
      </p:sp>
      <p:sp>
        <p:nvSpPr>
          <p:cNvPr id="23" name="text-22"/>
          <p:cNvSpPr txBox="1"/>
          <p:nvPr/>
        </p:nvSpPr>
        <p:spPr>
          <a:xfrm>
            <a:off x="6718300" y="2752923"/>
            <a:ext cx="1773341" cy="25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Давлат қоплайди</a:t>
            </a:r>
            <a:endParaRPr lang="en-US" sz="1300" dirty="0"/>
          </a:p>
        </p:txBody>
      </p:sp>
      <p:sp>
        <p:nvSpPr>
          <p:cNvPr id="24" name="text-23"/>
          <p:cNvSpPr txBox="1"/>
          <p:nvPr/>
        </p:nvSpPr>
        <p:spPr>
          <a:xfrm>
            <a:off x="6718300" y="2956123"/>
            <a:ext cx="2207457" cy="42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БҲМнинг 20 бараваригача бўлган қиймат</a:t>
            </a:r>
            <a:endParaRPr lang="en-US" sz="1150" dirty="0"/>
          </a:p>
        </p:txBody>
      </p:sp>
      <p:sp>
        <p:nvSpPr>
          <p:cNvPr id="25" name="box-24"/>
          <p:cNvSpPr/>
          <p:nvPr/>
        </p:nvSpPr>
        <p:spPr>
          <a:xfrm>
            <a:off x="6388100" y="357882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5BAB6"/>
          </a:solidFill>
          <a:ln/>
        </p:spPr>
      </p:sp>
      <p:sp>
        <p:nvSpPr>
          <p:cNvPr id="26" name="text-25"/>
          <p:cNvSpPr txBox="1"/>
          <p:nvPr/>
        </p:nvSpPr>
        <p:spPr>
          <a:xfrm>
            <a:off x="6718300" y="3528020"/>
            <a:ext cx="646700" cy="36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078E8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50%</a:t>
            </a:r>
            <a:endParaRPr lang="en-US" sz="1900" dirty="0"/>
          </a:p>
        </p:txBody>
      </p:sp>
      <p:sp>
        <p:nvSpPr>
          <p:cNvPr id="27" name="text-26"/>
          <p:cNvSpPr txBox="1"/>
          <p:nvPr/>
        </p:nvSpPr>
        <p:spPr>
          <a:xfrm>
            <a:off x="6718300" y="3820120"/>
            <a:ext cx="1219772" cy="25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Ёшнинг ўзи</a:t>
            </a:r>
            <a:endParaRPr lang="en-US" sz="1300" dirty="0"/>
          </a:p>
        </p:txBody>
      </p:sp>
      <p:sp>
        <p:nvSpPr>
          <p:cNvPr id="28" name="text-27"/>
          <p:cNvSpPr txBox="1"/>
          <p:nvPr/>
        </p:nvSpPr>
        <p:spPr>
          <a:xfrm>
            <a:off x="6718300" y="4023320"/>
            <a:ext cx="2168640" cy="42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йилгача муддатда бўлиб тўланади</a:t>
            </a:r>
            <a:endParaRPr lang="en-US" sz="1150" dirty="0"/>
          </a:p>
        </p:txBody>
      </p:sp>
      <p:sp>
        <p:nvSpPr>
          <p:cNvPr id="29" name="text-28"/>
          <p:cNvSpPr txBox="1"/>
          <p:nvPr/>
        </p:nvSpPr>
        <p:spPr>
          <a:xfrm>
            <a:off x="4480322" y="4569817"/>
            <a:ext cx="4196358" cy="22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E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Маркетплейс платформаларида харид қилинади</a:t>
            </a:r>
            <a:endParaRPr lang="en-US" sz="1150" dirty="0"/>
          </a:p>
        </p:txBody>
      </p:sp>
      <p:sp>
        <p:nvSpPr>
          <p:cNvPr id="30" name="text-29"/>
          <p:cNvSpPr txBox="1"/>
          <p:nvPr/>
        </p:nvSpPr>
        <p:spPr>
          <a:xfrm>
            <a:off x="12757920" y="1498600"/>
            <a:ext cx="2627162" cy="28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Жорий этиш механизми</a:t>
            </a:r>
            <a:endParaRPr lang="en-US" sz="1400" dirty="0"/>
          </a:p>
        </p:txBody>
      </p:sp>
      <p:sp>
        <p:nvSpPr>
          <p:cNvPr id="31" name="box-30"/>
          <p:cNvSpPr/>
          <p:nvPr/>
        </p:nvSpPr>
        <p:spPr>
          <a:xfrm>
            <a:off x="9296400" y="1879600"/>
            <a:ext cx="2937867" cy="3100388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sp>
        <p:nvSpPr>
          <p:cNvPr id="32" name="badge-31"/>
          <p:cNvSpPr/>
          <p:nvPr/>
        </p:nvSpPr>
        <p:spPr>
          <a:xfrm>
            <a:off x="9309100" y="1892300"/>
            <a:ext cx="47267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33" name="text-32"/>
          <p:cNvSpPr txBox="1"/>
          <p:nvPr/>
        </p:nvSpPr>
        <p:spPr>
          <a:xfrm>
            <a:off x="9375537" y="1955800"/>
            <a:ext cx="33980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pic>
        <p:nvPicPr>
          <p:cNvPr id="34" name="icon-33" descr="users-viewfind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609" y="2483644"/>
            <a:ext cx="603250" cy="482600"/>
          </a:xfrm>
          <a:prstGeom prst="rect">
            <a:avLst/>
          </a:prstGeom>
        </p:spPr>
      </p:pic>
      <p:sp>
        <p:nvSpPr>
          <p:cNvPr id="35" name="text-34"/>
          <p:cNvSpPr txBox="1"/>
          <p:nvPr/>
        </p:nvSpPr>
        <p:spPr>
          <a:xfrm>
            <a:off x="9843167" y="3055144"/>
            <a:ext cx="1844135" cy="51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“Рақамли ёшлар” платформаси</a:t>
            </a:r>
            <a:endParaRPr lang="en-US" sz="1400" dirty="0"/>
          </a:p>
        </p:txBody>
      </p:sp>
      <p:sp>
        <p:nvSpPr>
          <p:cNvPr id="36" name="text-35"/>
          <p:cNvSpPr txBox="1"/>
          <p:nvPr/>
        </p:nvSpPr>
        <p:spPr>
          <a:xfrm>
            <a:off x="9561378" y="3624263"/>
            <a:ext cx="2407911" cy="88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Иштирокчи ёшлар реестри юритилади, муддатли тўлов операторлари билан интеграция</a:t>
            </a:r>
            <a:endParaRPr lang="en-US" sz="1200" dirty="0"/>
          </a:p>
        </p:txBody>
      </p:sp>
      <p:pic>
        <p:nvPicPr>
          <p:cNvPr id="37" name="icon-36" descr="angles-righ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67" y="3290094"/>
            <a:ext cx="279400" cy="279400"/>
          </a:xfrm>
          <a:prstGeom prst="rect">
            <a:avLst/>
          </a:prstGeom>
        </p:spPr>
      </p:pic>
      <p:sp>
        <p:nvSpPr>
          <p:cNvPr id="38" name="box-37"/>
          <p:cNvSpPr/>
          <p:nvPr/>
        </p:nvSpPr>
        <p:spPr>
          <a:xfrm>
            <a:off x="12615267" y="1879600"/>
            <a:ext cx="2937867" cy="3100388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sp>
        <p:nvSpPr>
          <p:cNvPr id="39" name="badge-38"/>
          <p:cNvSpPr/>
          <p:nvPr/>
        </p:nvSpPr>
        <p:spPr>
          <a:xfrm>
            <a:off x="12627967" y="1892300"/>
            <a:ext cx="523280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40" name="text-39"/>
          <p:cNvSpPr txBox="1"/>
          <p:nvPr/>
        </p:nvSpPr>
        <p:spPr>
          <a:xfrm>
            <a:off x="12692380" y="1955800"/>
            <a:ext cx="39445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pic>
        <p:nvPicPr>
          <p:cNvPr id="41" name="icon-40" descr="credit-car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2639" y="2590205"/>
            <a:ext cx="542925" cy="482600"/>
          </a:xfrm>
          <a:prstGeom prst="rect">
            <a:avLst/>
          </a:prstGeom>
        </p:spPr>
      </p:pic>
      <p:sp>
        <p:nvSpPr>
          <p:cNvPr id="42" name="text-41"/>
          <p:cNvSpPr txBox="1"/>
          <p:nvPr/>
        </p:nvSpPr>
        <p:spPr>
          <a:xfrm>
            <a:off x="13240285" y="3161705"/>
            <a:ext cx="1687634" cy="51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Муддатли тўлов оператори</a:t>
            </a:r>
            <a:endParaRPr lang="en-US" sz="1400" dirty="0"/>
          </a:p>
        </p:txBody>
      </p:sp>
      <p:sp>
        <p:nvSpPr>
          <p:cNvPr id="43" name="text-42"/>
          <p:cNvSpPr txBox="1"/>
          <p:nvPr/>
        </p:nvSpPr>
        <p:spPr>
          <a:xfrm>
            <a:off x="12933648" y="3730823"/>
            <a:ext cx="2300907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Ноутбук маркетплейснинг муддатли тўлов хизмати орқали харид қилинади</a:t>
            </a:r>
            <a:endParaRPr lang="en-US" sz="1200" dirty="0"/>
          </a:p>
        </p:txBody>
      </p:sp>
      <p:pic>
        <p:nvPicPr>
          <p:cNvPr id="44" name="icon-43" descr="angles-righ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3934" y="3290094"/>
            <a:ext cx="279400" cy="279400"/>
          </a:xfrm>
          <a:prstGeom prst="rect">
            <a:avLst/>
          </a:prstGeom>
        </p:spPr>
      </p:pic>
      <p:sp>
        <p:nvSpPr>
          <p:cNvPr id="45" name="box-44"/>
          <p:cNvSpPr/>
          <p:nvPr/>
        </p:nvSpPr>
        <p:spPr>
          <a:xfrm>
            <a:off x="15934134" y="1879600"/>
            <a:ext cx="2912467" cy="3100388"/>
          </a:xfrm>
          <a:prstGeom prst="roundRect">
            <a:avLst>
              <a:gd name="adj" fmla="val 5233"/>
            </a:avLst>
          </a:prstGeom>
          <a:solidFill>
            <a:srgbClr val="F4FAFE"/>
          </a:solidFill>
          <a:ln/>
        </p:spPr>
      </p:sp>
      <p:sp>
        <p:nvSpPr>
          <p:cNvPr id="46" name="badge-45"/>
          <p:cNvSpPr/>
          <p:nvPr/>
        </p:nvSpPr>
        <p:spPr>
          <a:xfrm>
            <a:off x="15934134" y="1879600"/>
            <a:ext cx="51970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47" name="text-46"/>
          <p:cNvSpPr txBox="1"/>
          <p:nvPr/>
        </p:nvSpPr>
        <p:spPr>
          <a:xfrm>
            <a:off x="15998690" y="1943100"/>
            <a:ext cx="39059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pic>
        <p:nvPicPr>
          <p:cNvPr id="48" name="icon-47" descr="building-column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8969" y="2263180"/>
            <a:ext cx="482600" cy="482600"/>
          </a:xfrm>
          <a:prstGeom prst="rect">
            <a:avLst/>
          </a:prstGeom>
        </p:spPr>
      </p:pic>
      <p:sp>
        <p:nvSpPr>
          <p:cNvPr id="49" name="text-48"/>
          <p:cNvSpPr txBox="1"/>
          <p:nvPr/>
        </p:nvSpPr>
        <p:spPr>
          <a:xfrm>
            <a:off x="16345588" y="2834680"/>
            <a:ext cx="2089362" cy="740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“Рақамли таълимни ривожлантириш маркази”</a:t>
            </a:r>
            <a:endParaRPr lang="en-US" sz="1400" dirty="0"/>
          </a:p>
        </p:txBody>
      </p:sp>
      <p:sp>
        <p:nvSpPr>
          <p:cNvPr id="50" name="text-49"/>
          <p:cNvSpPr txBox="1"/>
          <p:nvPr/>
        </p:nvSpPr>
        <p:spPr>
          <a:xfrm>
            <a:off x="16103849" y="3631208"/>
            <a:ext cx="2573039" cy="109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Оператор сўровига кўра нархнинг </a:t>
            </a:r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ини Рақамли технологияларни ривожлантириш жамғармаси ҳисобидан қоплайди</a:t>
            </a:r>
            <a:endParaRPr lang="en-US" sz="1200" dirty="0"/>
          </a:p>
        </p:txBody>
      </p:sp>
      <p:pic>
        <p:nvPicPr>
          <p:cNvPr id="51" name="icon-50" descr="circle-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0653" y="5132388"/>
            <a:ext cx="215900" cy="215900"/>
          </a:xfrm>
          <a:prstGeom prst="rect">
            <a:avLst/>
          </a:prstGeom>
        </p:spPr>
      </p:pic>
      <p:sp>
        <p:nvSpPr>
          <p:cNvPr id="52" name="text-51"/>
          <p:cNvSpPr txBox="1"/>
          <p:nvPr/>
        </p:nvSpPr>
        <p:spPr>
          <a:xfrm>
            <a:off x="11258153" y="5138738"/>
            <a:ext cx="2735604" cy="25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0E0E0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Кенгаш таркиби — 2-илова</a:t>
            </a:r>
            <a:endParaRPr lang="en-US" sz="1350" dirty="0"/>
          </a:p>
        </p:txBody>
      </p:sp>
      <p:pic>
        <p:nvPicPr>
          <p:cNvPr id="53" name="icon-52" descr="circle-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76164" y="5132388"/>
            <a:ext cx="215900" cy="215900"/>
          </a:xfrm>
          <a:prstGeom prst="rect">
            <a:avLst/>
          </a:prstGeom>
        </p:spPr>
      </p:pic>
      <p:sp>
        <p:nvSpPr>
          <p:cNvPr id="54" name="text-53"/>
          <p:cNvSpPr txBox="1"/>
          <p:nvPr/>
        </p:nvSpPr>
        <p:spPr>
          <a:xfrm>
            <a:off x="14393664" y="5138738"/>
            <a:ext cx="3109793" cy="25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0E0E0E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Кенгаш вазифалари — 3-илова</a:t>
            </a:r>
            <a:endParaRPr lang="en-US" sz="1350" dirty="0"/>
          </a:p>
        </p:txBody>
      </p:sp>
      <p:sp>
        <p:nvSpPr>
          <p:cNvPr id="55" name="box-54"/>
          <p:cNvSpPr/>
          <p:nvPr/>
        </p:nvSpPr>
        <p:spPr>
          <a:xfrm>
            <a:off x="304800" y="5957888"/>
            <a:ext cx="18770600" cy="3821113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56" name="box-55"/>
          <p:cNvSpPr/>
          <p:nvPr/>
        </p:nvSpPr>
        <p:spPr>
          <a:xfrm>
            <a:off x="5913537" y="5818188"/>
            <a:ext cx="7553127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-56"/>
          <p:cNvSpPr txBox="1"/>
          <p:nvPr/>
        </p:nvSpPr>
        <p:spPr>
          <a:xfrm>
            <a:off x="6091337" y="5830888"/>
            <a:ext cx="7849529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ИҚТИДОРЛИ 9–10-СИНФ ЎҚУВЧИЛАРИ УЧУН ЎҚИТИШ ТИЗИМИ</a:t>
            </a:r>
            <a:endParaRPr lang="en-US" sz="1600" dirty="0"/>
          </a:p>
        </p:txBody>
      </p:sp>
      <p:sp>
        <p:nvSpPr>
          <p:cNvPr id="58" name="box-57"/>
          <p:cNvSpPr/>
          <p:nvPr/>
        </p:nvSpPr>
        <p:spPr>
          <a:xfrm>
            <a:off x="4608314" y="6288088"/>
            <a:ext cx="2429073" cy="381000"/>
          </a:xfrm>
          <a:prstGeom prst="roundRect">
            <a:avLst>
              <a:gd name="adj" fmla="val 26667"/>
            </a:avLst>
          </a:prstGeom>
          <a:solidFill>
            <a:srgbClr val="1F6DC4"/>
          </a:solidFill>
          <a:ln/>
        </p:spPr>
      </p:sp>
      <p:pic>
        <p:nvPicPr>
          <p:cNvPr id="59" name="icon-58" descr="calendar-day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114" y="6376988"/>
            <a:ext cx="177800" cy="203200"/>
          </a:xfrm>
          <a:prstGeom prst="rect">
            <a:avLst/>
          </a:prstGeom>
        </p:spPr>
      </p:pic>
      <p:sp>
        <p:nvSpPr>
          <p:cNvPr id="60" name="text-59"/>
          <p:cNvSpPr txBox="1"/>
          <p:nvPr/>
        </p:nvSpPr>
        <p:spPr>
          <a:xfrm>
            <a:off x="5078214" y="6376988"/>
            <a:ext cx="2000083" cy="25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йил 1 мартдан</a:t>
            </a:r>
            <a:endParaRPr lang="en-US" sz="1350" dirty="0"/>
          </a:p>
        </p:txBody>
      </p:sp>
      <p:sp>
        <p:nvSpPr>
          <p:cNvPr id="61" name="text-60"/>
          <p:cNvSpPr txBox="1"/>
          <p:nvPr/>
        </p:nvSpPr>
        <p:spPr>
          <a:xfrm>
            <a:off x="7215188" y="6376988"/>
            <a:ext cx="8237434" cy="25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Масъул: </a:t>
            </a:r>
            <a:pPr algn="l"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Рақамли технологиялар вазирлиги</a:t>
            </a:r>
            <a:pPr algn="l" indent="0" marL="0">
              <a:lnSpc>
                <a:spcPts val="1647"/>
              </a:lnSpc>
              <a:buNone/>
            </a:pPr>
            <a:r>
              <a:rPr lang="en-US" sz="13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ҳамда </a:t>
            </a:r>
            <a:pPr algn="l" indent="0" marL="0">
              <a:lnSpc>
                <a:spcPts val="1647"/>
              </a:lnSpc>
              <a:buNone/>
            </a:pPr>
            <a:r>
              <a:rPr lang="en-US" sz="13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Таълим ва илм-фан вазирлиги</a:t>
            </a:r>
            <a:endParaRPr lang="en-US" sz="1350" dirty="0"/>
          </a:p>
        </p:txBody>
      </p:sp>
      <p:sp>
        <p:nvSpPr>
          <p:cNvPr id="62" name="box-61"/>
          <p:cNvSpPr/>
          <p:nvPr/>
        </p:nvSpPr>
        <p:spPr>
          <a:xfrm>
            <a:off x="533400" y="6846888"/>
            <a:ext cx="3357959" cy="2703513"/>
          </a:xfrm>
          <a:prstGeom prst="roundRect">
            <a:avLst>
              <a:gd name="adj" fmla="val 5637"/>
            </a:avLst>
          </a:prstGeom>
          <a:solidFill>
            <a:srgbClr val="F4FAFE"/>
          </a:solidFill>
          <a:ln/>
        </p:spPr>
      </p:sp>
      <p:sp>
        <p:nvSpPr>
          <p:cNvPr id="63" name="badge-62"/>
          <p:cNvSpPr/>
          <p:nvPr/>
        </p:nvSpPr>
        <p:spPr>
          <a:xfrm>
            <a:off x="533400" y="6846888"/>
            <a:ext cx="47267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64" name="text-63"/>
          <p:cNvSpPr txBox="1"/>
          <p:nvPr/>
        </p:nvSpPr>
        <p:spPr>
          <a:xfrm>
            <a:off x="599837" y="6910388"/>
            <a:ext cx="33980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pic>
        <p:nvPicPr>
          <p:cNvPr id="65" name="icon-64" descr="trophy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0917" y="7472759"/>
            <a:ext cx="542925" cy="482600"/>
          </a:xfrm>
          <a:prstGeom prst="rect">
            <a:avLst/>
          </a:prstGeom>
        </p:spPr>
      </p:pic>
      <p:sp>
        <p:nvSpPr>
          <p:cNvPr id="66" name="text-65"/>
          <p:cNvSpPr txBox="1"/>
          <p:nvPr/>
        </p:nvSpPr>
        <p:spPr>
          <a:xfrm>
            <a:off x="1160590" y="8044259"/>
            <a:ext cx="2103382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Олимпиада ғолиби</a:t>
            </a:r>
            <a:endParaRPr lang="en-US" sz="1400" dirty="0"/>
          </a:p>
        </p:txBody>
      </p:sp>
      <p:sp>
        <p:nvSpPr>
          <p:cNvPr id="67" name="text-66"/>
          <p:cNvSpPr txBox="1"/>
          <p:nvPr/>
        </p:nvSpPr>
        <p:spPr>
          <a:xfrm>
            <a:off x="710520" y="8385969"/>
            <a:ext cx="3003521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Математика, информатика, физика ва СИ олимпиадаларининг </a:t>
            </a:r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вилоят босқичи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ғолиблари</a:t>
            </a:r>
            <a:endParaRPr lang="en-US" sz="1200" dirty="0"/>
          </a:p>
        </p:txBody>
      </p:sp>
      <p:pic>
        <p:nvPicPr>
          <p:cNvPr id="68" name="icon-67" descr="angles-right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2159" y="8058944"/>
            <a:ext cx="279400" cy="279400"/>
          </a:xfrm>
          <a:prstGeom prst="rect">
            <a:avLst/>
          </a:prstGeom>
        </p:spPr>
      </p:pic>
      <p:sp>
        <p:nvSpPr>
          <p:cNvPr id="69" name="box-68"/>
          <p:cNvSpPr/>
          <p:nvPr/>
        </p:nvSpPr>
        <p:spPr>
          <a:xfrm>
            <a:off x="4272359" y="6846888"/>
            <a:ext cx="3357959" cy="2703513"/>
          </a:xfrm>
          <a:prstGeom prst="roundRect">
            <a:avLst>
              <a:gd name="adj" fmla="val 5637"/>
            </a:avLst>
          </a:prstGeom>
          <a:solidFill>
            <a:srgbClr val="F4FAFE"/>
          </a:solidFill>
          <a:ln/>
        </p:spPr>
      </p:sp>
      <p:sp>
        <p:nvSpPr>
          <p:cNvPr id="70" name="badge-69"/>
          <p:cNvSpPr/>
          <p:nvPr/>
        </p:nvSpPr>
        <p:spPr>
          <a:xfrm>
            <a:off x="4272359" y="6846888"/>
            <a:ext cx="523280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71" name="text-70"/>
          <p:cNvSpPr txBox="1"/>
          <p:nvPr/>
        </p:nvSpPr>
        <p:spPr>
          <a:xfrm>
            <a:off x="4336772" y="6910388"/>
            <a:ext cx="39445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pic>
        <p:nvPicPr>
          <p:cNvPr id="72" name="icon-71" descr="laptop-cod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9714" y="7472759"/>
            <a:ext cx="603250" cy="482600"/>
          </a:xfrm>
          <a:prstGeom prst="rect">
            <a:avLst/>
          </a:prstGeom>
        </p:spPr>
      </p:pic>
      <p:sp>
        <p:nvSpPr>
          <p:cNvPr id="73" name="text-72"/>
          <p:cNvSpPr txBox="1"/>
          <p:nvPr/>
        </p:nvSpPr>
        <p:spPr>
          <a:xfrm>
            <a:off x="4934053" y="8044259"/>
            <a:ext cx="2034373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Махсус ўқув курси</a:t>
            </a:r>
            <a:endParaRPr lang="en-US" sz="1400" dirty="0"/>
          </a:p>
        </p:txBody>
      </p:sp>
      <p:sp>
        <p:nvSpPr>
          <p:cNvPr id="74" name="text-73"/>
          <p:cNvSpPr txBox="1"/>
          <p:nvPr/>
        </p:nvSpPr>
        <p:spPr>
          <a:xfrm>
            <a:off x="4630011" y="8385969"/>
            <a:ext cx="2642458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Сунъий интеллект ва рақамли технологиялар бўйича ўқитиш тизими</a:t>
            </a:r>
            <a:endParaRPr lang="en-US" sz="1200" dirty="0"/>
          </a:p>
        </p:txBody>
      </p:sp>
      <p:pic>
        <p:nvPicPr>
          <p:cNvPr id="75" name="icon-74" descr="angles-right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1119" y="8058944"/>
            <a:ext cx="279400" cy="279400"/>
          </a:xfrm>
          <a:prstGeom prst="rect">
            <a:avLst/>
          </a:prstGeom>
        </p:spPr>
      </p:pic>
      <p:sp>
        <p:nvSpPr>
          <p:cNvPr id="76" name="box-75"/>
          <p:cNvSpPr/>
          <p:nvPr/>
        </p:nvSpPr>
        <p:spPr>
          <a:xfrm>
            <a:off x="8011319" y="6846888"/>
            <a:ext cx="3357959" cy="2703513"/>
          </a:xfrm>
          <a:prstGeom prst="roundRect">
            <a:avLst>
              <a:gd name="adj" fmla="val 5637"/>
            </a:avLst>
          </a:prstGeom>
          <a:solidFill>
            <a:srgbClr val="F4FAFE"/>
          </a:solidFill>
          <a:ln/>
        </p:spPr>
      </p:sp>
      <p:sp>
        <p:nvSpPr>
          <p:cNvPr id="77" name="badge-76"/>
          <p:cNvSpPr/>
          <p:nvPr/>
        </p:nvSpPr>
        <p:spPr>
          <a:xfrm>
            <a:off x="8011319" y="6846888"/>
            <a:ext cx="51970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78" name="text-77"/>
          <p:cNvSpPr txBox="1"/>
          <p:nvPr/>
        </p:nvSpPr>
        <p:spPr>
          <a:xfrm>
            <a:off x="8075874" y="6910388"/>
            <a:ext cx="39059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pic>
        <p:nvPicPr>
          <p:cNvPr id="79" name="icon-78" descr="award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323" y="7472759"/>
            <a:ext cx="361950" cy="482600"/>
          </a:xfrm>
          <a:prstGeom prst="rect">
            <a:avLst/>
          </a:prstGeom>
        </p:spPr>
      </p:pic>
      <p:sp>
        <p:nvSpPr>
          <p:cNvPr id="80" name="text-79"/>
          <p:cNvSpPr txBox="1"/>
          <p:nvPr/>
        </p:nvSpPr>
        <p:spPr>
          <a:xfrm>
            <a:off x="8564563" y="8044259"/>
            <a:ext cx="2251472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Халқаро сертификат</a:t>
            </a:r>
            <a:endParaRPr lang="en-US" sz="1400" dirty="0"/>
          </a:p>
        </p:txBody>
      </p:sp>
      <p:sp>
        <p:nvSpPr>
          <p:cNvPr id="81" name="text-80"/>
          <p:cNvSpPr txBox="1"/>
          <p:nvPr/>
        </p:nvSpPr>
        <p:spPr>
          <a:xfrm>
            <a:off x="8250050" y="8385969"/>
            <a:ext cx="2880497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Pearson, ICDL, Cambridge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каби ташкилотлар билан ҳамкорликда баҳолаш</a:t>
            </a:r>
            <a:endParaRPr lang="en-US" sz="1200" dirty="0"/>
          </a:p>
        </p:txBody>
      </p:sp>
      <p:pic>
        <p:nvPicPr>
          <p:cNvPr id="82" name="icon-81" descr="angles-right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20078" y="8058944"/>
            <a:ext cx="279400" cy="279400"/>
          </a:xfrm>
          <a:prstGeom prst="rect">
            <a:avLst/>
          </a:prstGeom>
        </p:spPr>
      </p:pic>
      <p:sp>
        <p:nvSpPr>
          <p:cNvPr id="83" name="box-82"/>
          <p:cNvSpPr/>
          <p:nvPr/>
        </p:nvSpPr>
        <p:spPr>
          <a:xfrm>
            <a:off x="11750278" y="6846888"/>
            <a:ext cx="3357959" cy="2703513"/>
          </a:xfrm>
          <a:prstGeom prst="roundRect">
            <a:avLst>
              <a:gd name="adj" fmla="val 5637"/>
            </a:avLst>
          </a:prstGeom>
          <a:solidFill>
            <a:srgbClr val="F4FAFE"/>
          </a:solidFill>
          <a:ln/>
        </p:spPr>
      </p:sp>
      <p:sp>
        <p:nvSpPr>
          <p:cNvPr id="84" name="badge-83"/>
          <p:cNvSpPr/>
          <p:nvPr/>
        </p:nvSpPr>
        <p:spPr>
          <a:xfrm>
            <a:off x="11750278" y="6846888"/>
            <a:ext cx="545306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85" name="text-84"/>
          <p:cNvSpPr txBox="1"/>
          <p:nvPr/>
        </p:nvSpPr>
        <p:spPr>
          <a:xfrm>
            <a:off x="11813810" y="6910388"/>
            <a:ext cx="41824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pic>
        <p:nvPicPr>
          <p:cNvPr id="86" name="icon-85" descr="graduation-cap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27633" y="7472759"/>
            <a:ext cx="603250" cy="482600"/>
          </a:xfrm>
          <a:prstGeom prst="rect">
            <a:avLst/>
          </a:prstGeom>
        </p:spPr>
      </p:pic>
      <p:sp>
        <p:nvSpPr>
          <p:cNvPr id="87" name="text-86"/>
          <p:cNvSpPr txBox="1"/>
          <p:nvPr/>
        </p:nvSpPr>
        <p:spPr>
          <a:xfrm>
            <a:off x="12721003" y="8044259"/>
            <a:ext cx="1416510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ОТМга қабул</a:t>
            </a:r>
            <a:endParaRPr lang="en-US" sz="1400" dirty="0"/>
          </a:p>
        </p:txBody>
      </p:sp>
      <p:sp>
        <p:nvSpPr>
          <p:cNvPr id="88" name="text-87"/>
          <p:cNvSpPr txBox="1"/>
          <p:nvPr/>
        </p:nvSpPr>
        <p:spPr>
          <a:xfrm>
            <a:off x="11915072" y="8385969"/>
            <a:ext cx="3028373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Рақамли технологиялар вазирлиги ОТМларига </a:t>
            </a:r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квотадан ташқари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суҳбат асосида, тўлов-контракт</a:t>
            </a:r>
            <a:endParaRPr lang="en-US" sz="1200" dirty="0"/>
          </a:p>
        </p:txBody>
      </p:sp>
      <p:pic>
        <p:nvPicPr>
          <p:cNvPr id="89" name="icon-88" descr="angles-right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59038" y="8058944"/>
            <a:ext cx="279400" cy="279400"/>
          </a:xfrm>
          <a:prstGeom prst="rect">
            <a:avLst/>
          </a:prstGeom>
        </p:spPr>
      </p:pic>
      <p:sp>
        <p:nvSpPr>
          <p:cNvPr id="90" name="box-89"/>
          <p:cNvSpPr/>
          <p:nvPr/>
        </p:nvSpPr>
        <p:spPr>
          <a:xfrm>
            <a:off x="15489238" y="6846888"/>
            <a:ext cx="3357959" cy="2703513"/>
          </a:xfrm>
          <a:prstGeom prst="roundRect">
            <a:avLst>
              <a:gd name="adj" fmla="val 5637"/>
            </a:avLst>
          </a:prstGeom>
          <a:solidFill>
            <a:srgbClr val="F4FAFE"/>
          </a:solidFill>
          <a:ln/>
        </p:spPr>
      </p:sp>
      <p:sp>
        <p:nvSpPr>
          <p:cNvPr id="91" name="badge-90"/>
          <p:cNvSpPr/>
          <p:nvPr/>
        </p:nvSpPr>
        <p:spPr>
          <a:xfrm>
            <a:off x="15489238" y="6846888"/>
            <a:ext cx="522089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92" name="text-91"/>
          <p:cNvSpPr txBox="1"/>
          <p:nvPr/>
        </p:nvSpPr>
        <p:spPr>
          <a:xfrm>
            <a:off x="15553698" y="6910388"/>
            <a:ext cx="39316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900" dirty="0"/>
          </a:p>
        </p:txBody>
      </p:sp>
      <p:pic>
        <p:nvPicPr>
          <p:cNvPr id="93" name="icon-92" descr="hand-holding-dollar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96755" y="7472759"/>
            <a:ext cx="542925" cy="482600"/>
          </a:xfrm>
          <a:prstGeom prst="rect">
            <a:avLst/>
          </a:prstGeom>
        </p:spPr>
      </p:pic>
      <p:sp>
        <p:nvSpPr>
          <p:cNvPr id="94" name="text-93"/>
          <p:cNvSpPr txBox="1"/>
          <p:nvPr/>
        </p:nvSpPr>
        <p:spPr>
          <a:xfrm>
            <a:off x="16254659" y="8044259"/>
            <a:ext cx="1826919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Грант тақсимоти</a:t>
            </a:r>
            <a:endParaRPr lang="en-US" sz="1400" dirty="0"/>
          </a:p>
        </p:txBody>
      </p:sp>
      <p:sp>
        <p:nvSpPr>
          <p:cNvPr id="95" name="text-94"/>
          <p:cNvSpPr txBox="1"/>
          <p:nvPr/>
        </p:nvSpPr>
        <p:spPr>
          <a:xfrm>
            <a:off x="15922466" y="8385969"/>
            <a:ext cx="2491502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Кейинги ўқув йилидан грант тақсимотида иштирок этиш имконияти</a:t>
            </a:r>
            <a:endParaRPr lang="en-US" sz="1200" dirty="0"/>
          </a:p>
        </p:txBody>
      </p:sp>
      <p:sp>
        <p:nvSpPr>
          <p:cNvPr id="96" name="goal-95"/>
          <p:cNvSpPr/>
          <p:nvPr/>
        </p:nvSpPr>
        <p:spPr>
          <a:xfrm>
            <a:off x="4038600" y="10007600"/>
            <a:ext cx="15036800" cy="685800"/>
          </a:xfrm>
          <a:prstGeom prst="rect">
            <a:avLst/>
          </a:prstGeom>
          <a:solidFill>
            <a:srgbClr val="F4FAFE"/>
          </a:solidFill>
          <a:ln/>
        </p:spPr>
      </p:sp>
      <p:sp>
        <p:nvSpPr>
          <p:cNvPr id="97" name="gap-96"/>
          <p:cNvSpPr/>
          <p:nvPr/>
        </p:nvSpPr>
        <p:spPr>
          <a:xfrm>
            <a:off x="304800" y="10007600"/>
            <a:ext cx="3962400" cy="685800"/>
          </a:xfrm>
          <a:prstGeom prst="homePlate">
            <a:avLst/>
          </a:prstGeom>
          <a:solidFill>
            <a:srgbClr val="FFFFFF"/>
          </a:solidFill>
          <a:ln/>
        </p:spPr>
      </p:sp>
      <p:sp>
        <p:nvSpPr>
          <p:cNvPr id="98" name="goal-97"/>
          <p:cNvSpPr/>
          <p:nvPr/>
        </p:nvSpPr>
        <p:spPr>
          <a:xfrm>
            <a:off x="304800" y="10007600"/>
            <a:ext cx="3810000" cy="685800"/>
          </a:xfrm>
          <a:prstGeom prst="homePlate">
            <a:avLst/>
          </a:prstGeom>
          <a:solidFill>
            <a:srgbClr val="E0EFF4"/>
          </a:solidFill>
          <a:ln/>
        </p:spPr>
      </p:sp>
      <p:sp>
        <p:nvSpPr>
          <p:cNvPr id="99" name="text-98"/>
          <p:cNvSpPr txBox="1"/>
          <p:nvPr/>
        </p:nvSpPr>
        <p:spPr>
          <a:xfrm>
            <a:off x="660400" y="10229850"/>
            <a:ext cx="1667042" cy="29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2027 ЙИЛДАН</a:t>
            </a:r>
            <a:endParaRPr lang="en-US" sz="1500" dirty="0"/>
          </a:p>
        </p:txBody>
      </p:sp>
      <p:pic>
        <p:nvPicPr>
          <p:cNvPr id="100" name="icon-99" descr="bullseye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75820" y="10210800"/>
            <a:ext cx="279400" cy="279400"/>
          </a:xfrm>
          <a:prstGeom prst="rect">
            <a:avLst/>
          </a:prstGeom>
        </p:spPr>
      </p:pic>
      <p:sp>
        <p:nvSpPr>
          <p:cNvPr id="101" name="text-100"/>
          <p:cNvSpPr txBox="1"/>
          <p:nvPr/>
        </p:nvSpPr>
        <p:spPr>
          <a:xfrm>
            <a:off x="5382220" y="10229850"/>
            <a:ext cx="13852636" cy="301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1"/>
              </a:lnSpc>
              <a:buNone/>
            </a:pPr>
            <a:r>
              <a:rPr lang="en-US" sz="155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МИНГ НАФАР ЁШ</a:t>
            </a:r>
            <a:pPr algn="l" indent="0" marL="0">
              <a:lnSpc>
                <a:spcPts val="1891"/>
              </a:lnSpc>
              <a:buNone/>
            </a:pPr>
            <a:r>
              <a:rPr lang="en-US" sz="1550" dirty="0">
                <a:solidFill>
                  <a:srgbClr val="0154B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ноутбук билан, </a:t>
            </a:r>
            <a:pPr algn="l" indent="0" marL="0">
              <a:lnSpc>
                <a:spcPts val="1891"/>
              </a:lnSpc>
              <a:buNone/>
            </a:pPr>
            <a:r>
              <a:rPr lang="en-US" sz="155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ОЛИМПИАДА ҒОЛИБЛАРИ</a:t>
            </a:r>
            <a:pPr algn="l" indent="0" marL="0">
              <a:lnSpc>
                <a:spcPts val="1891"/>
              </a:lnSpc>
              <a:buNone/>
            </a:pPr>
            <a:r>
              <a:rPr lang="en-US" sz="1550" dirty="0">
                <a:solidFill>
                  <a:srgbClr val="0154B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халқаро сертификат ва ОТМга қабул имтиёзи билан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1"/>
          <p:cNvSpPr/>
          <p:nvPr/>
        </p:nvSpPr>
        <p:spPr>
          <a:xfrm>
            <a:off x="0" y="0"/>
            <a:ext cx="19380200" cy="647700"/>
          </a:xfrm>
          <a:prstGeom prst="rect">
            <a:avLst/>
          </a:prstGeom>
          <a:solidFill>
            <a:srgbClr val="17254A"/>
          </a:solidFill>
          <a:ln/>
        </p:spPr>
      </p:sp>
      <p:sp>
        <p:nvSpPr>
          <p:cNvPr id="3" name="text-2"/>
          <p:cNvSpPr txBox="1"/>
          <p:nvPr/>
        </p:nvSpPr>
        <p:spPr>
          <a:xfrm>
            <a:off x="355600" y="165100"/>
            <a:ext cx="8306657" cy="39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ЛОЙИҲА ОФИСИ, ХАЛҚАРО ҲАМКОРЛИК ВА ИЖРО</a:t>
            </a:r>
            <a:endParaRPr lang="en-US" sz="2100" dirty="0"/>
          </a:p>
        </p:txBody>
      </p:sp>
      <p:sp>
        <p:nvSpPr>
          <p:cNvPr id="4" name="text-3"/>
          <p:cNvSpPr txBox="1"/>
          <p:nvPr/>
        </p:nvSpPr>
        <p:spPr>
          <a:xfrm>
            <a:off x="18475523" y="57150"/>
            <a:ext cx="696635" cy="64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3400" dirty="0"/>
          </a:p>
        </p:txBody>
      </p:sp>
      <p:sp>
        <p:nvSpPr>
          <p:cNvPr id="5" name="box-4"/>
          <p:cNvSpPr/>
          <p:nvPr/>
        </p:nvSpPr>
        <p:spPr>
          <a:xfrm>
            <a:off x="0" y="647700"/>
            <a:ext cx="19380200" cy="63500"/>
          </a:xfrm>
          <a:prstGeom prst="rect">
            <a:avLst/>
          </a:prstGeom>
          <a:solidFill>
            <a:srgbClr val="2FC1FF"/>
          </a:solidFill>
          <a:ln/>
        </p:spPr>
      </p:sp>
      <p:sp>
        <p:nvSpPr>
          <p:cNvPr id="6" name="box-5"/>
          <p:cNvSpPr/>
          <p:nvPr/>
        </p:nvSpPr>
        <p:spPr>
          <a:xfrm>
            <a:off x="304800" y="1092200"/>
            <a:ext cx="8748117" cy="622300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7" name="box-6"/>
          <p:cNvSpPr/>
          <p:nvPr/>
        </p:nvSpPr>
        <p:spPr>
          <a:xfrm>
            <a:off x="3298130" y="914400"/>
            <a:ext cx="2761258" cy="355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-7"/>
          <p:cNvSpPr txBox="1"/>
          <p:nvPr/>
        </p:nvSpPr>
        <p:spPr>
          <a:xfrm>
            <a:off x="3475930" y="939800"/>
            <a:ext cx="267431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7CC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ЛОЙИҲА ОФИСИ</a:t>
            </a:r>
            <a:endParaRPr lang="en-US" sz="2000" dirty="0"/>
          </a:p>
        </p:txBody>
      </p:sp>
      <p:sp>
        <p:nvSpPr>
          <p:cNvPr id="9" name="box-8"/>
          <p:cNvSpPr/>
          <p:nvPr/>
        </p:nvSpPr>
        <p:spPr>
          <a:xfrm>
            <a:off x="533400" y="1498600"/>
            <a:ext cx="8290917" cy="883841"/>
          </a:xfrm>
          <a:prstGeom prst="roundRect">
            <a:avLst>
              <a:gd name="adj" fmla="val 17243"/>
            </a:avLst>
          </a:prstGeom>
          <a:solidFill>
            <a:srgbClr val="4D96F1"/>
          </a:solidFill>
          <a:ln/>
        </p:spPr>
      </p:sp>
      <p:pic>
        <p:nvPicPr>
          <p:cNvPr id="10" name="icon-9" descr="chart-pi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185" y="1686520"/>
            <a:ext cx="571500" cy="5080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2695575" y="1638300"/>
            <a:ext cx="5012371" cy="65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ТАЪЛИМНИ ТАҲЛИЛ ҚИЛИШ</a:t>
            </a:r>
            <a:endParaRPr lang="en-US" sz="19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ВА ПРОГНОЗЛАШ ЛОЙИҲА ОФИСИ</a:t>
            </a:r>
            <a:endParaRPr lang="en-US" sz="1900" dirty="0"/>
          </a:p>
        </p:txBody>
      </p:sp>
      <p:sp>
        <p:nvSpPr>
          <p:cNvPr id="12" name="connector-11"/>
          <p:cNvSpPr/>
          <p:nvPr/>
        </p:nvSpPr>
        <p:spPr>
          <a:xfrm>
            <a:off x="4678859" y="2382441"/>
            <a:ext cx="0" cy="304800"/>
          </a:xfrm>
          <a:prstGeom prst="line">
            <a:avLst/>
          </a:prstGeom>
          <a:noFill/>
          <a:ln w="19050">
            <a:solidFill>
              <a:srgbClr val="B9D3EC"/>
            </a:solidFill>
            <a:prstDash val="solid"/>
          </a:ln>
        </p:spPr>
      </p:sp>
      <p:sp>
        <p:nvSpPr>
          <p:cNvPr id="13" name="connector-12"/>
          <p:cNvSpPr/>
          <p:nvPr/>
        </p:nvSpPr>
        <p:spPr>
          <a:xfrm>
            <a:off x="1914667" y="2534841"/>
            <a:ext cx="0" cy="152400"/>
          </a:xfrm>
          <a:prstGeom prst="line">
            <a:avLst/>
          </a:prstGeom>
          <a:noFill/>
          <a:ln w="19050">
            <a:solidFill>
              <a:srgbClr val="B9D3EC"/>
            </a:solidFill>
            <a:prstDash val="solid"/>
          </a:ln>
        </p:spPr>
      </p:sp>
      <p:sp>
        <p:nvSpPr>
          <p:cNvPr id="14" name="connector-13"/>
          <p:cNvSpPr/>
          <p:nvPr/>
        </p:nvSpPr>
        <p:spPr>
          <a:xfrm>
            <a:off x="1914667" y="2534841"/>
            <a:ext cx="5528384" cy="0"/>
          </a:xfrm>
          <a:prstGeom prst="line">
            <a:avLst/>
          </a:prstGeom>
          <a:noFill/>
          <a:ln w="19050">
            <a:solidFill>
              <a:srgbClr val="B9D3EC"/>
            </a:solidFill>
            <a:prstDash val="solid"/>
          </a:ln>
        </p:spPr>
      </p:sp>
      <p:sp>
        <p:nvSpPr>
          <p:cNvPr id="15" name="connector-14"/>
          <p:cNvSpPr/>
          <p:nvPr/>
        </p:nvSpPr>
        <p:spPr>
          <a:xfrm>
            <a:off x="7443050" y="2534841"/>
            <a:ext cx="0" cy="152400"/>
          </a:xfrm>
          <a:prstGeom prst="line">
            <a:avLst/>
          </a:prstGeom>
          <a:noFill/>
          <a:ln w="19050">
            <a:solidFill>
              <a:srgbClr val="B9D3EC"/>
            </a:solidFill>
            <a:prstDash val="solid"/>
          </a:ln>
        </p:spPr>
      </p:sp>
      <p:sp>
        <p:nvSpPr>
          <p:cNvPr id="16" name="box-15"/>
          <p:cNvSpPr/>
          <p:nvPr/>
        </p:nvSpPr>
        <p:spPr>
          <a:xfrm>
            <a:off x="4678759" y="2534841"/>
            <a:ext cx="25400" cy="228600"/>
          </a:xfrm>
          <a:prstGeom prst="rect">
            <a:avLst/>
          </a:prstGeom>
          <a:solidFill>
            <a:srgbClr val="B9D3EC"/>
          </a:solidFill>
          <a:ln/>
        </p:spPr>
      </p:sp>
      <p:sp>
        <p:nvSpPr>
          <p:cNvPr id="17" name="box-16"/>
          <p:cNvSpPr/>
          <p:nvPr/>
        </p:nvSpPr>
        <p:spPr>
          <a:xfrm>
            <a:off x="635000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sp>
        <p:nvSpPr>
          <p:cNvPr id="18" name="box-17"/>
          <p:cNvSpPr/>
          <p:nvPr/>
        </p:nvSpPr>
        <p:spPr>
          <a:xfrm>
            <a:off x="2539738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sp>
        <p:nvSpPr>
          <p:cNvPr id="19" name="box-18"/>
          <p:cNvSpPr/>
          <p:nvPr/>
        </p:nvSpPr>
        <p:spPr>
          <a:xfrm>
            <a:off x="635000" y="4064397"/>
            <a:ext cx="2441972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pic>
        <p:nvPicPr>
          <p:cNvPr id="20" name="icon-19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861" y="2826941"/>
            <a:ext cx="476250" cy="3810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1537787" y="3258741"/>
            <a:ext cx="63619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та</a:t>
            </a:r>
            <a:endParaRPr lang="en-US" sz="1600" dirty="0"/>
          </a:p>
        </p:txBody>
      </p:sp>
      <p:sp>
        <p:nvSpPr>
          <p:cNvPr id="22" name="text-21"/>
          <p:cNvSpPr txBox="1"/>
          <p:nvPr/>
        </p:nvSpPr>
        <p:spPr>
          <a:xfrm>
            <a:off x="1188450" y="3558381"/>
            <a:ext cx="1335072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штат бирлиги</a:t>
            </a:r>
            <a:endParaRPr lang="en-US" sz="1250" dirty="0"/>
          </a:p>
        </p:txBody>
      </p:sp>
      <p:sp>
        <p:nvSpPr>
          <p:cNvPr id="23" name="box-22"/>
          <p:cNvSpPr/>
          <p:nvPr/>
        </p:nvSpPr>
        <p:spPr>
          <a:xfrm>
            <a:off x="3457972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7A9AE"/>
          </a:solidFill>
          <a:ln/>
        </p:spPr>
      </p:sp>
      <p:sp>
        <p:nvSpPr>
          <p:cNvPr id="24" name="box-23"/>
          <p:cNvSpPr/>
          <p:nvPr/>
        </p:nvSpPr>
        <p:spPr>
          <a:xfrm>
            <a:off x="5362710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7A9AE"/>
          </a:solidFill>
          <a:ln/>
        </p:spPr>
      </p:sp>
      <p:sp>
        <p:nvSpPr>
          <p:cNvPr id="25" name="box-24"/>
          <p:cNvSpPr/>
          <p:nvPr/>
        </p:nvSpPr>
        <p:spPr>
          <a:xfrm>
            <a:off x="3457972" y="4064397"/>
            <a:ext cx="2441972" cy="50800"/>
          </a:xfrm>
          <a:prstGeom prst="roundRect">
            <a:avLst>
              <a:gd name="adj" fmla="val 50000"/>
            </a:avLst>
          </a:prstGeom>
          <a:solidFill>
            <a:srgbClr val="27A9AE"/>
          </a:solidFill>
          <a:ln/>
        </p:spPr>
      </p:sp>
      <p:pic>
        <p:nvPicPr>
          <p:cNvPr id="26" name="icon-25" descr="file-contrac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83" y="2826941"/>
            <a:ext cx="285750" cy="381000"/>
          </a:xfrm>
          <a:prstGeom prst="rect">
            <a:avLst/>
          </a:prstGeom>
        </p:spPr>
      </p:pic>
      <p:sp>
        <p:nvSpPr>
          <p:cNvPr id="27" name="text-26"/>
          <p:cNvSpPr txBox="1"/>
          <p:nvPr/>
        </p:nvSpPr>
        <p:spPr>
          <a:xfrm>
            <a:off x="3790045" y="3258741"/>
            <a:ext cx="177762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Юридик шахс</a:t>
            </a:r>
            <a:endParaRPr lang="en-US" sz="1600" dirty="0"/>
          </a:p>
        </p:txBody>
      </p:sp>
      <p:sp>
        <p:nvSpPr>
          <p:cNvPr id="28" name="text-27"/>
          <p:cNvSpPr txBox="1"/>
          <p:nvPr/>
        </p:nvSpPr>
        <p:spPr>
          <a:xfrm>
            <a:off x="3790474" y="3558381"/>
            <a:ext cx="1776770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мақомига эга эмас</a:t>
            </a:r>
            <a:endParaRPr lang="en-US" sz="1250" dirty="0"/>
          </a:p>
        </p:txBody>
      </p:sp>
      <p:sp>
        <p:nvSpPr>
          <p:cNvPr id="29" name="box-28"/>
          <p:cNvSpPr/>
          <p:nvPr/>
        </p:nvSpPr>
        <p:spPr>
          <a:xfrm>
            <a:off x="6280944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sp>
        <p:nvSpPr>
          <p:cNvPr id="30" name="box-29"/>
          <p:cNvSpPr/>
          <p:nvPr/>
        </p:nvSpPr>
        <p:spPr>
          <a:xfrm>
            <a:off x="8185682" y="2687241"/>
            <a:ext cx="537234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sp>
        <p:nvSpPr>
          <p:cNvPr id="31" name="box-30"/>
          <p:cNvSpPr/>
          <p:nvPr/>
        </p:nvSpPr>
        <p:spPr>
          <a:xfrm>
            <a:off x="6280944" y="4064397"/>
            <a:ext cx="2441972" cy="50800"/>
          </a:xfrm>
          <a:prstGeom prst="roundRect">
            <a:avLst>
              <a:gd name="adj" fmla="val 50000"/>
            </a:avLst>
          </a:prstGeom>
          <a:solidFill>
            <a:srgbClr val="2E7BD8"/>
          </a:solidFill>
          <a:ln/>
        </p:spPr>
      </p:sp>
      <p:pic>
        <p:nvPicPr>
          <p:cNvPr id="32" name="icon-31" descr="sitema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617" y="2826941"/>
            <a:ext cx="428625" cy="381000"/>
          </a:xfrm>
          <a:prstGeom prst="rect">
            <a:avLst/>
          </a:prstGeom>
        </p:spPr>
      </p:pic>
      <p:sp>
        <p:nvSpPr>
          <p:cNvPr id="33" name="text-32"/>
          <p:cNvSpPr txBox="1"/>
          <p:nvPr/>
        </p:nvSpPr>
        <p:spPr>
          <a:xfrm>
            <a:off x="6304649" y="3258741"/>
            <a:ext cx="2394561" cy="520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Республика таълим маркази</a:t>
            </a:r>
            <a:endParaRPr lang="en-US" sz="1600" dirty="0"/>
          </a:p>
        </p:txBody>
      </p:sp>
      <p:sp>
        <p:nvSpPr>
          <p:cNvPr id="34" name="text-33"/>
          <p:cNvSpPr txBox="1"/>
          <p:nvPr/>
        </p:nvSpPr>
        <p:spPr>
          <a:xfrm>
            <a:off x="6674310" y="3781822"/>
            <a:ext cx="1655040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штати ҳисобидан</a:t>
            </a:r>
            <a:endParaRPr lang="en-US" sz="1250" dirty="0"/>
          </a:p>
        </p:txBody>
      </p:sp>
      <p:sp>
        <p:nvSpPr>
          <p:cNvPr id="35" name="box-34"/>
          <p:cNvSpPr/>
          <p:nvPr/>
        </p:nvSpPr>
        <p:spPr>
          <a:xfrm>
            <a:off x="533400" y="4292997"/>
            <a:ext cx="4081859" cy="1333302"/>
          </a:xfrm>
          <a:prstGeom prst="roundRect">
            <a:avLst>
              <a:gd name="adj" fmla="val 11430"/>
            </a:avLst>
          </a:prstGeom>
          <a:solidFill>
            <a:srgbClr val="F4FAFE"/>
          </a:solidFill>
          <a:ln/>
        </p:spPr>
      </p:sp>
      <p:pic>
        <p:nvPicPr>
          <p:cNvPr id="36" name="icon-35" descr="chart-li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4794448"/>
            <a:ext cx="330200" cy="330200"/>
          </a:xfrm>
          <a:prstGeom prst="rect">
            <a:avLst/>
          </a:prstGeom>
        </p:spPr>
      </p:pic>
      <p:sp>
        <p:nvSpPr>
          <p:cNvPr id="37" name="text-36"/>
          <p:cNvSpPr txBox="1"/>
          <p:nvPr/>
        </p:nvSpPr>
        <p:spPr>
          <a:xfrm>
            <a:off x="1346200" y="4490442"/>
            <a:ext cx="3077004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Тизимли таҳлил ва прогноз</a:t>
            </a:r>
            <a:endParaRPr lang="en-US" sz="1450" dirty="0"/>
          </a:p>
        </p:txBody>
      </p:sp>
      <p:sp>
        <p:nvSpPr>
          <p:cNvPr id="38" name="text-37"/>
          <p:cNvSpPr txBox="1"/>
          <p:nvPr/>
        </p:nvSpPr>
        <p:spPr>
          <a:xfrm>
            <a:off x="1346200" y="4784130"/>
            <a:ext cx="3077459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Таълим сифати, кадрлар, инфратузилма ва эҳтиёж бўйича ўрта ва узоқ муддатли прогнозлар</a:t>
            </a:r>
            <a:endParaRPr lang="en-US" sz="1250" dirty="0"/>
          </a:p>
        </p:txBody>
      </p:sp>
      <p:sp>
        <p:nvSpPr>
          <p:cNvPr id="39" name="box-38"/>
          <p:cNvSpPr/>
          <p:nvPr/>
        </p:nvSpPr>
        <p:spPr>
          <a:xfrm>
            <a:off x="4742259" y="4292997"/>
            <a:ext cx="4082058" cy="1333302"/>
          </a:xfrm>
          <a:prstGeom prst="roundRect">
            <a:avLst>
              <a:gd name="adj" fmla="val 11430"/>
            </a:avLst>
          </a:prstGeom>
          <a:solidFill>
            <a:srgbClr val="F4FAFE"/>
          </a:solidFill>
          <a:ln/>
        </p:spPr>
      </p:sp>
      <p:pic>
        <p:nvPicPr>
          <p:cNvPr id="40" name="icon-39" descr="chart-colum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259" y="4794448"/>
            <a:ext cx="330200" cy="330200"/>
          </a:xfrm>
          <a:prstGeom prst="rect">
            <a:avLst/>
          </a:prstGeom>
        </p:spPr>
      </p:pic>
      <p:sp>
        <p:nvSpPr>
          <p:cNvPr id="41" name="text-40"/>
          <p:cNvSpPr txBox="1"/>
          <p:nvPr/>
        </p:nvSpPr>
        <p:spPr>
          <a:xfrm>
            <a:off x="5555059" y="4490442"/>
            <a:ext cx="3365468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Ягона таҳлилий кўрсаткичлар</a:t>
            </a:r>
            <a:endParaRPr lang="en-US" sz="1450" dirty="0"/>
          </a:p>
        </p:txBody>
      </p:sp>
      <p:sp>
        <p:nvSpPr>
          <p:cNvPr id="42" name="text-41"/>
          <p:cNvSpPr txBox="1"/>
          <p:nvPr/>
        </p:nvSpPr>
        <p:spPr>
          <a:xfrm>
            <a:off x="5555059" y="4784130"/>
            <a:ext cx="2898365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Тизим ҳолати ва ривожланиш динамикаси, такомиллаштириш тавсиялари</a:t>
            </a:r>
            <a:endParaRPr lang="en-US" sz="1250" dirty="0"/>
          </a:p>
        </p:txBody>
      </p:sp>
      <p:sp>
        <p:nvSpPr>
          <p:cNvPr id="43" name="box-42"/>
          <p:cNvSpPr/>
          <p:nvPr/>
        </p:nvSpPr>
        <p:spPr>
          <a:xfrm>
            <a:off x="533400" y="5753298"/>
            <a:ext cx="4081859" cy="1333302"/>
          </a:xfrm>
          <a:prstGeom prst="roundRect">
            <a:avLst>
              <a:gd name="adj" fmla="val 11430"/>
            </a:avLst>
          </a:prstGeom>
          <a:solidFill>
            <a:srgbClr val="F4FAFE"/>
          </a:solidFill>
          <a:ln/>
        </p:spPr>
      </p:sp>
      <p:pic>
        <p:nvPicPr>
          <p:cNvPr id="44" name="icon-43" descr="file-line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6254750"/>
            <a:ext cx="247650" cy="330200"/>
          </a:xfrm>
          <a:prstGeom prst="rect">
            <a:avLst/>
          </a:prstGeom>
        </p:spPr>
      </p:pic>
      <p:sp>
        <p:nvSpPr>
          <p:cNvPr id="45" name="text-44"/>
          <p:cNvSpPr txBox="1"/>
          <p:nvPr/>
        </p:nvSpPr>
        <p:spPr>
          <a:xfrm>
            <a:off x="1346200" y="6060281"/>
            <a:ext cx="2434923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Таҳлилий ҳисоботлар</a:t>
            </a:r>
            <a:endParaRPr lang="en-US" sz="1450" dirty="0"/>
          </a:p>
        </p:txBody>
      </p:sp>
      <p:sp>
        <p:nvSpPr>
          <p:cNvPr id="46" name="text-45"/>
          <p:cNvSpPr txBox="1"/>
          <p:nvPr/>
        </p:nvSpPr>
        <p:spPr>
          <a:xfrm>
            <a:off x="1346200" y="6353969"/>
            <a:ext cx="314646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Давлат органлари учун асосланган бошқарув тавсиялари</a:t>
            </a:r>
            <a:endParaRPr lang="en-US" sz="1250" dirty="0"/>
          </a:p>
        </p:txBody>
      </p:sp>
      <p:sp>
        <p:nvSpPr>
          <p:cNvPr id="47" name="box-46"/>
          <p:cNvSpPr/>
          <p:nvPr/>
        </p:nvSpPr>
        <p:spPr>
          <a:xfrm>
            <a:off x="4742259" y="5753298"/>
            <a:ext cx="4082058" cy="1333302"/>
          </a:xfrm>
          <a:prstGeom prst="roundRect">
            <a:avLst>
              <a:gd name="adj" fmla="val 11430"/>
            </a:avLst>
          </a:prstGeom>
          <a:solidFill>
            <a:srgbClr val="F4FAFE"/>
          </a:solidFill>
          <a:ln/>
        </p:spPr>
      </p:sp>
      <p:pic>
        <p:nvPicPr>
          <p:cNvPr id="48" name="icon-47" descr="glob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6259" y="6254750"/>
            <a:ext cx="330200" cy="330200"/>
          </a:xfrm>
          <a:prstGeom prst="rect">
            <a:avLst/>
          </a:prstGeom>
        </p:spPr>
      </p:pic>
      <p:sp>
        <p:nvSpPr>
          <p:cNvPr id="49" name="text-48"/>
          <p:cNvSpPr txBox="1"/>
          <p:nvPr/>
        </p:nvSpPr>
        <p:spPr>
          <a:xfrm>
            <a:off x="5555059" y="5950744"/>
            <a:ext cx="1980581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Халқаро тажриба</a:t>
            </a:r>
            <a:endParaRPr lang="en-US" sz="1450" dirty="0"/>
          </a:p>
        </p:txBody>
      </p:sp>
      <p:sp>
        <p:nvSpPr>
          <p:cNvPr id="50" name="text-49"/>
          <p:cNvSpPr txBox="1"/>
          <p:nvPr/>
        </p:nvSpPr>
        <p:spPr>
          <a:xfrm>
            <a:off x="5555059" y="6244431"/>
            <a:ext cx="2513889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Рақамли трансформация тажрибаси асосида миллий амалиётга мос ечимлар</a:t>
            </a:r>
            <a:endParaRPr lang="en-US" sz="1250" dirty="0"/>
          </a:p>
        </p:txBody>
      </p:sp>
      <p:sp>
        <p:nvSpPr>
          <p:cNvPr id="51" name="box-50"/>
          <p:cNvSpPr/>
          <p:nvPr/>
        </p:nvSpPr>
        <p:spPr>
          <a:xfrm>
            <a:off x="9332317" y="1092200"/>
            <a:ext cx="9743083" cy="622300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52" name="box-51"/>
          <p:cNvSpPr/>
          <p:nvPr/>
        </p:nvSpPr>
        <p:spPr>
          <a:xfrm>
            <a:off x="10276780" y="914400"/>
            <a:ext cx="7853958" cy="355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-52"/>
          <p:cNvSpPr txBox="1"/>
          <p:nvPr/>
        </p:nvSpPr>
        <p:spPr>
          <a:xfrm>
            <a:off x="10454580" y="939800"/>
            <a:ext cx="81744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7CC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KOICA ГРАНТИ · “РАҚАМЛИ ТАЪЛИМ МАРКАЗЛАРИ”</a:t>
            </a:r>
            <a:endParaRPr lang="en-US" sz="2000" dirty="0"/>
          </a:p>
        </p:txBody>
      </p:sp>
      <p:sp>
        <p:nvSpPr>
          <p:cNvPr id="54" name="box-53"/>
          <p:cNvSpPr/>
          <p:nvPr/>
        </p:nvSpPr>
        <p:spPr>
          <a:xfrm>
            <a:off x="9560917" y="1498600"/>
            <a:ext cx="2849761" cy="367823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sp>
        <p:nvSpPr>
          <p:cNvPr id="55" name="badge-54"/>
          <p:cNvSpPr/>
          <p:nvPr/>
        </p:nvSpPr>
        <p:spPr>
          <a:xfrm>
            <a:off x="9573617" y="1511300"/>
            <a:ext cx="47267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56" name="text-55"/>
          <p:cNvSpPr txBox="1"/>
          <p:nvPr/>
        </p:nvSpPr>
        <p:spPr>
          <a:xfrm>
            <a:off x="9640054" y="1574800"/>
            <a:ext cx="33980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pic>
        <p:nvPicPr>
          <p:cNvPr id="57" name="icon-56" descr="landmar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398" y="2291953"/>
            <a:ext cx="482600" cy="482600"/>
          </a:xfrm>
          <a:prstGeom prst="rect">
            <a:avLst/>
          </a:prstGeom>
        </p:spPr>
      </p:pic>
      <p:sp>
        <p:nvSpPr>
          <p:cNvPr id="58" name="text-57"/>
          <p:cNvSpPr txBox="1"/>
          <p:nvPr/>
        </p:nvSpPr>
        <p:spPr>
          <a:xfrm>
            <a:off x="9982549" y="2863453"/>
            <a:ext cx="2006298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Тўрт масъул орган</a:t>
            </a:r>
            <a:endParaRPr lang="en-US" sz="1400" dirty="0"/>
          </a:p>
        </p:txBody>
      </p:sp>
      <p:sp>
        <p:nvSpPr>
          <p:cNvPr id="59" name="text-58"/>
          <p:cNvSpPr txBox="1"/>
          <p:nvPr/>
        </p:nvSpPr>
        <p:spPr>
          <a:xfrm>
            <a:off x="9670935" y="3205163"/>
            <a:ext cx="2629725" cy="131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Қорақалпоғистон Вазирлар Кенгаши · Қашқадарё вилояти ҳокимлиги · Кадастр агентлиги · Давлат активларини бошқариш агентлиги</a:t>
            </a:r>
            <a:endParaRPr lang="en-US" sz="1200" dirty="0"/>
          </a:p>
        </p:txBody>
      </p:sp>
      <p:pic>
        <p:nvPicPr>
          <p:cNvPr id="60" name="icon-59" descr="angles-right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61478" y="3198019"/>
            <a:ext cx="279400" cy="279400"/>
          </a:xfrm>
          <a:prstGeom prst="rect">
            <a:avLst/>
          </a:prstGeom>
        </p:spPr>
      </p:pic>
      <p:sp>
        <p:nvSpPr>
          <p:cNvPr id="61" name="box-60"/>
          <p:cNvSpPr/>
          <p:nvPr/>
        </p:nvSpPr>
        <p:spPr>
          <a:xfrm>
            <a:off x="12791678" y="1498600"/>
            <a:ext cx="2849761" cy="367823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sp>
        <p:nvSpPr>
          <p:cNvPr id="62" name="badge-61"/>
          <p:cNvSpPr/>
          <p:nvPr/>
        </p:nvSpPr>
        <p:spPr>
          <a:xfrm>
            <a:off x="12804378" y="1511300"/>
            <a:ext cx="523280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63" name="text-62"/>
          <p:cNvSpPr txBox="1"/>
          <p:nvPr/>
        </p:nvSpPr>
        <p:spPr>
          <a:xfrm>
            <a:off x="12868791" y="1574800"/>
            <a:ext cx="39445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pic>
        <p:nvPicPr>
          <p:cNvPr id="64" name="icon-63" descr="map-location-dot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44997" y="2611834"/>
            <a:ext cx="542925" cy="482600"/>
          </a:xfrm>
          <a:prstGeom prst="rect">
            <a:avLst/>
          </a:prstGeom>
        </p:spPr>
      </p:pic>
      <p:sp>
        <p:nvSpPr>
          <p:cNvPr id="65" name="text-64"/>
          <p:cNvSpPr txBox="1"/>
          <p:nvPr/>
        </p:nvSpPr>
        <p:spPr>
          <a:xfrm>
            <a:off x="13612789" y="3183334"/>
            <a:ext cx="1207341" cy="28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Ер ва бино</a:t>
            </a:r>
            <a:endParaRPr lang="en-US" sz="1400" dirty="0"/>
          </a:p>
        </p:txBody>
      </p:sp>
      <p:sp>
        <p:nvSpPr>
          <p:cNvPr id="66" name="text-65"/>
          <p:cNvSpPr txBox="1"/>
          <p:nvPr/>
        </p:nvSpPr>
        <p:spPr>
          <a:xfrm>
            <a:off x="12988782" y="3525044"/>
            <a:ext cx="2455355" cy="67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Зарур ер участкалари ҳамда </a:t>
            </a:r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минг м²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дан кам бўлмаган бино майдонлари</a:t>
            </a:r>
            <a:endParaRPr lang="en-US" sz="1200" dirty="0"/>
          </a:p>
        </p:txBody>
      </p:sp>
      <p:pic>
        <p:nvPicPr>
          <p:cNvPr id="67" name="icon-66" descr="angles-right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92239" y="3198019"/>
            <a:ext cx="279400" cy="279400"/>
          </a:xfrm>
          <a:prstGeom prst="rect">
            <a:avLst/>
          </a:prstGeom>
        </p:spPr>
      </p:pic>
      <p:sp>
        <p:nvSpPr>
          <p:cNvPr id="68" name="box-67"/>
          <p:cNvSpPr/>
          <p:nvPr/>
        </p:nvSpPr>
        <p:spPr>
          <a:xfrm>
            <a:off x="16022439" y="1498600"/>
            <a:ext cx="2824361" cy="3678238"/>
          </a:xfrm>
          <a:prstGeom prst="roundRect">
            <a:avLst>
              <a:gd name="adj" fmla="val 5396"/>
            </a:avLst>
          </a:prstGeom>
          <a:solidFill>
            <a:srgbClr val="F4FAFE"/>
          </a:solidFill>
          <a:ln/>
        </p:spPr>
      </p:sp>
      <p:sp>
        <p:nvSpPr>
          <p:cNvPr id="69" name="badge-68"/>
          <p:cNvSpPr/>
          <p:nvPr/>
        </p:nvSpPr>
        <p:spPr>
          <a:xfrm>
            <a:off x="16022439" y="1498600"/>
            <a:ext cx="519708" cy="406400"/>
          </a:xfrm>
          <a:prstGeom prst="round2DiagRect">
            <a:avLst/>
          </a:prstGeom>
          <a:solidFill>
            <a:srgbClr val="1F6DC4"/>
          </a:solidFill>
          <a:ln/>
        </p:spPr>
      </p:sp>
      <p:sp>
        <p:nvSpPr>
          <p:cNvPr id="70" name="text-69"/>
          <p:cNvSpPr txBox="1"/>
          <p:nvPr/>
        </p:nvSpPr>
        <p:spPr>
          <a:xfrm>
            <a:off x="16086995" y="1562100"/>
            <a:ext cx="39059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pic>
        <p:nvPicPr>
          <p:cNvPr id="71" name="icon-70" descr="building-columns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93220" y="2491184"/>
            <a:ext cx="482600" cy="482600"/>
          </a:xfrm>
          <a:prstGeom prst="rect">
            <a:avLst/>
          </a:prstGeom>
        </p:spPr>
      </p:pic>
      <p:sp>
        <p:nvSpPr>
          <p:cNvPr id="72" name="text-71"/>
          <p:cNvSpPr txBox="1"/>
          <p:nvPr/>
        </p:nvSpPr>
        <p:spPr>
          <a:xfrm>
            <a:off x="16389839" y="3062684"/>
            <a:ext cx="2089362" cy="740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“Рақамли таълимни ривожлантириш маркази”</a:t>
            </a:r>
            <a:endParaRPr lang="en-US" sz="1400" dirty="0"/>
          </a:p>
        </p:txBody>
      </p:sp>
      <p:sp>
        <p:nvSpPr>
          <p:cNvPr id="73" name="text-72"/>
          <p:cNvSpPr txBox="1"/>
          <p:nvPr/>
        </p:nvSpPr>
        <p:spPr>
          <a:xfrm>
            <a:off x="16148922" y="3859212"/>
            <a:ext cx="2571396" cy="45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Белгиланган тартибда давлат муассасасига ўтказилади</a:t>
            </a:r>
            <a:endParaRPr lang="en-US" sz="1200" dirty="0"/>
          </a:p>
        </p:txBody>
      </p:sp>
      <p:sp>
        <p:nvSpPr>
          <p:cNvPr id="74" name="box-73"/>
          <p:cNvSpPr/>
          <p:nvPr/>
        </p:nvSpPr>
        <p:spPr>
          <a:xfrm>
            <a:off x="9560917" y="5354638"/>
            <a:ext cx="2993628" cy="1731963"/>
          </a:xfrm>
          <a:prstGeom prst="roundRect">
            <a:avLst>
              <a:gd name="adj" fmla="val 8799"/>
            </a:avLst>
          </a:prstGeom>
          <a:solidFill>
            <a:srgbClr val="E0EFF4"/>
          </a:solidFill>
          <a:ln/>
        </p:spPr>
      </p:sp>
      <p:pic>
        <p:nvPicPr>
          <p:cNvPr id="75" name="icon-74" descr="calendar-days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7305" y="6004719"/>
            <a:ext cx="377825" cy="431800"/>
          </a:xfrm>
          <a:prstGeom prst="rect">
            <a:avLst/>
          </a:prstGeom>
        </p:spPr>
      </p:pic>
      <p:sp>
        <p:nvSpPr>
          <p:cNvPr id="76" name="text-75"/>
          <p:cNvSpPr txBox="1"/>
          <p:nvPr/>
        </p:nvSpPr>
        <p:spPr>
          <a:xfrm>
            <a:off x="10526117" y="5623719"/>
            <a:ext cx="2069092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2027 ЙИЛ МАРТ</a:t>
            </a:r>
            <a:endParaRPr lang="en-US" sz="1700" dirty="0"/>
          </a:p>
        </p:txBody>
      </p:sp>
      <p:sp>
        <p:nvSpPr>
          <p:cNvPr id="77" name="text-76"/>
          <p:cNvSpPr txBox="1"/>
          <p:nvPr/>
        </p:nvSpPr>
        <p:spPr>
          <a:xfrm>
            <a:off x="10526117" y="5928519"/>
            <a:ext cx="1582888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гача, Рақамли технологиялар вазирлиги билан келишиб</a:t>
            </a:r>
            <a:endParaRPr lang="en-US" sz="1250" dirty="0"/>
          </a:p>
        </p:txBody>
      </p:sp>
      <p:sp>
        <p:nvSpPr>
          <p:cNvPr id="78" name="box-77"/>
          <p:cNvSpPr/>
          <p:nvPr/>
        </p:nvSpPr>
        <p:spPr>
          <a:xfrm>
            <a:off x="12706945" y="5354638"/>
            <a:ext cx="2993628" cy="1731963"/>
          </a:xfrm>
          <a:prstGeom prst="roundRect">
            <a:avLst>
              <a:gd name="adj" fmla="val 8799"/>
            </a:avLst>
          </a:prstGeom>
          <a:solidFill>
            <a:srgbClr val="F4FAFE"/>
          </a:solidFill>
          <a:ln/>
        </p:spPr>
      </p:sp>
      <p:pic>
        <p:nvPicPr>
          <p:cNvPr id="79" name="icon-78" descr="shield-halved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60945" y="6055519"/>
            <a:ext cx="330200" cy="330200"/>
          </a:xfrm>
          <a:prstGeom prst="rect">
            <a:avLst/>
          </a:prstGeom>
        </p:spPr>
      </p:pic>
      <p:sp>
        <p:nvSpPr>
          <p:cNvPr id="80" name="text-79"/>
          <p:cNvSpPr txBox="1"/>
          <p:nvPr/>
        </p:nvSpPr>
        <p:spPr>
          <a:xfrm>
            <a:off x="13519745" y="5641975"/>
            <a:ext cx="1733479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Солиқ имтиёзи</a:t>
            </a:r>
            <a:endParaRPr lang="en-US" sz="1450" dirty="0"/>
          </a:p>
        </p:txBody>
      </p:sp>
      <p:sp>
        <p:nvSpPr>
          <p:cNvPr id="81" name="text-80"/>
          <p:cNvSpPr txBox="1"/>
          <p:nvPr/>
        </p:nvSpPr>
        <p:spPr>
          <a:xfrm>
            <a:off x="13519745" y="5935663"/>
            <a:ext cx="2079504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Грант ҳисобидан товар ва хизматлар божхона тўловлари ва ҚҚСдан озод</a:t>
            </a:r>
            <a:endParaRPr lang="en-US" sz="1250" dirty="0"/>
          </a:p>
        </p:txBody>
      </p:sp>
      <p:sp>
        <p:nvSpPr>
          <p:cNvPr id="82" name="box-81"/>
          <p:cNvSpPr/>
          <p:nvPr/>
        </p:nvSpPr>
        <p:spPr>
          <a:xfrm>
            <a:off x="15852973" y="5354638"/>
            <a:ext cx="2993628" cy="1731963"/>
          </a:xfrm>
          <a:prstGeom prst="roundRect">
            <a:avLst>
              <a:gd name="adj" fmla="val 8799"/>
            </a:avLst>
          </a:prstGeom>
          <a:solidFill>
            <a:srgbClr val="F4FAFE"/>
          </a:solidFill>
          <a:ln/>
        </p:spPr>
      </p:sp>
      <p:pic>
        <p:nvPicPr>
          <p:cNvPr id="83" name="icon-82" descr="passport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127611" y="6055519"/>
            <a:ext cx="288925" cy="330200"/>
          </a:xfrm>
          <a:prstGeom prst="rect">
            <a:avLst/>
          </a:prstGeom>
        </p:spPr>
      </p:pic>
      <p:sp>
        <p:nvSpPr>
          <p:cNvPr id="84" name="text-83"/>
          <p:cNvSpPr txBox="1"/>
          <p:nvPr/>
        </p:nvSpPr>
        <p:spPr>
          <a:xfrm>
            <a:off x="16665773" y="5532438"/>
            <a:ext cx="596551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Виза</a:t>
            </a:r>
            <a:endParaRPr lang="en-US" sz="1450" dirty="0"/>
          </a:p>
        </p:txBody>
      </p:sp>
      <p:sp>
        <p:nvSpPr>
          <p:cNvPr id="85" name="text-84"/>
          <p:cNvSpPr txBox="1"/>
          <p:nvPr/>
        </p:nvSpPr>
        <p:spPr>
          <a:xfrm>
            <a:off x="16665773" y="5826125"/>
            <a:ext cx="194230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Хорижий мутахассисларга консуллик йиғимларисиз расмийлаштирилади</a:t>
            </a:r>
            <a:endParaRPr lang="en-US" sz="1250" dirty="0"/>
          </a:p>
        </p:txBody>
      </p:sp>
      <p:sp>
        <p:nvSpPr>
          <p:cNvPr id="86" name="box-85"/>
          <p:cNvSpPr/>
          <p:nvPr/>
        </p:nvSpPr>
        <p:spPr>
          <a:xfrm>
            <a:off x="304800" y="7696200"/>
            <a:ext cx="10770791" cy="29972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87" name="box-86"/>
          <p:cNvSpPr/>
          <p:nvPr/>
        </p:nvSpPr>
        <p:spPr>
          <a:xfrm>
            <a:off x="3947120" y="7556500"/>
            <a:ext cx="348615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-87"/>
          <p:cNvSpPr txBox="1"/>
          <p:nvPr/>
        </p:nvSpPr>
        <p:spPr>
          <a:xfrm>
            <a:off x="4124920" y="7569200"/>
            <a:ext cx="3457194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ҚАРОРГА ИЛОВАЛАР · 8 ТА</a:t>
            </a:r>
            <a:endParaRPr lang="en-US" sz="1600" dirty="0"/>
          </a:p>
        </p:txBody>
      </p:sp>
      <p:sp>
        <p:nvSpPr>
          <p:cNvPr id="89" name="box-88"/>
          <p:cNvSpPr/>
          <p:nvPr/>
        </p:nvSpPr>
        <p:spPr>
          <a:xfrm>
            <a:off x="533400" y="8051800"/>
            <a:ext cx="2483048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90" name="tab-89"/>
          <p:cNvSpPr/>
          <p:nvPr/>
        </p:nvSpPr>
        <p:spPr>
          <a:xfrm>
            <a:off x="533400" y="805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91" name="tab-90"/>
          <p:cNvSpPr/>
          <p:nvPr/>
        </p:nvSpPr>
        <p:spPr>
          <a:xfrm>
            <a:off x="825500" y="805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92" name="text-91"/>
          <p:cNvSpPr txBox="1"/>
          <p:nvPr/>
        </p:nvSpPr>
        <p:spPr>
          <a:xfrm>
            <a:off x="776089" y="8451850"/>
            <a:ext cx="182928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</a:t>
            </a:r>
            <a:endParaRPr lang="en-US" sz="2200" dirty="0"/>
          </a:p>
        </p:txBody>
      </p:sp>
      <p:sp>
        <p:nvSpPr>
          <p:cNvPr id="93" name="text-92"/>
          <p:cNvSpPr txBox="1"/>
          <p:nvPr/>
        </p:nvSpPr>
        <p:spPr>
          <a:xfrm>
            <a:off x="1270000" y="8210550"/>
            <a:ext cx="1361691" cy="861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Институт фаолиятининг асосий йўналишлари</a:t>
            </a:r>
            <a:endParaRPr lang="en-US" sz="1250" dirty="0"/>
          </a:p>
        </p:txBody>
      </p:sp>
      <p:sp>
        <p:nvSpPr>
          <p:cNvPr id="94" name="box-93"/>
          <p:cNvSpPr/>
          <p:nvPr/>
        </p:nvSpPr>
        <p:spPr>
          <a:xfrm>
            <a:off x="3143448" y="8051800"/>
            <a:ext cx="2483247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95" name="tab-94"/>
          <p:cNvSpPr/>
          <p:nvPr/>
        </p:nvSpPr>
        <p:spPr>
          <a:xfrm>
            <a:off x="3143448" y="805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96" name="tab-95"/>
          <p:cNvSpPr/>
          <p:nvPr/>
        </p:nvSpPr>
        <p:spPr>
          <a:xfrm>
            <a:off x="3435548" y="805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97" name="text-96"/>
          <p:cNvSpPr txBox="1"/>
          <p:nvPr/>
        </p:nvSpPr>
        <p:spPr>
          <a:xfrm>
            <a:off x="3356769" y="8451850"/>
            <a:ext cx="246150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</a:t>
            </a:r>
            <a:endParaRPr lang="en-US" sz="2200" dirty="0"/>
          </a:p>
        </p:txBody>
      </p:sp>
      <p:sp>
        <p:nvSpPr>
          <p:cNvPr id="98" name="text-97"/>
          <p:cNvSpPr txBox="1"/>
          <p:nvPr/>
        </p:nvSpPr>
        <p:spPr>
          <a:xfrm>
            <a:off x="3880048" y="8520113"/>
            <a:ext cx="1591175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Кенгаш таркиби</a:t>
            </a:r>
            <a:endParaRPr lang="en-US" sz="1250" dirty="0"/>
          </a:p>
        </p:txBody>
      </p:sp>
      <p:sp>
        <p:nvSpPr>
          <p:cNvPr id="99" name="box-98"/>
          <p:cNvSpPr/>
          <p:nvPr/>
        </p:nvSpPr>
        <p:spPr>
          <a:xfrm>
            <a:off x="5753695" y="8051800"/>
            <a:ext cx="2483048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00" name="tab-99"/>
          <p:cNvSpPr/>
          <p:nvPr/>
        </p:nvSpPr>
        <p:spPr>
          <a:xfrm>
            <a:off x="5753695" y="805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01" name="tab-100"/>
          <p:cNvSpPr/>
          <p:nvPr/>
        </p:nvSpPr>
        <p:spPr>
          <a:xfrm>
            <a:off x="6045795" y="805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02" name="text-101"/>
          <p:cNvSpPr txBox="1"/>
          <p:nvPr/>
        </p:nvSpPr>
        <p:spPr>
          <a:xfrm>
            <a:off x="5967809" y="8451850"/>
            <a:ext cx="244650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3</a:t>
            </a:r>
            <a:endParaRPr lang="en-US" sz="2200" dirty="0"/>
          </a:p>
        </p:txBody>
      </p:sp>
      <p:sp>
        <p:nvSpPr>
          <p:cNvPr id="103" name="text-102"/>
          <p:cNvSpPr txBox="1"/>
          <p:nvPr/>
        </p:nvSpPr>
        <p:spPr>
          <a:xfrm>
            <a:off x="6490295" y="8416925"/>
            <a:ext cx="1148093" cy="4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Кенгаш вазифалари</a:t>
            </a:r>
            <a:endParaRPr lang="en-US" sz="1250" dirty="0"/>
          </a:p>
        </p:txBody>
      </p:sp>
      <p:sp>
        <p:nvSpPr>
          <p:cNvPr id="104" name="box-103"/>
          <p:cNvSpPr/>
          <p:nvPr/>
        </p:nvSpPr>
        <p:spPr>
          <a:xfrm>
            <a:off x="8363744" y="8051800"/>
            <a:ext cx="2483247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05" name="tab-104"/>
          <p:cNvSpPr/>
          <p:nvPr/>
        </p:nvSpPr>
        <p:spPr>
          <a:xfrm>
            <a:off x="8363744" y="805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06" name="tab-105"/>
          <p:cNvSpPr/>
          <p:nvPr/>
        </p:nvSpPr>
        <p:spPr>
          <a:xfrm>
            <a:off x="8655844" y="805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07" name="text-106"/>
          <p:cNvSpPr txBox="1"/>
          <p:nvPr/>
        </p:nvSpPr>
        <p:spPr>
          <a:xfrm>
            <a:off x="8564364" y="8451850"/>
            <a:ext cx="273582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4</a:t>
            </a:r>
            <a:endParaRPr lang="en-US" sz="2200" dirty="0"/>
          </a:p>
        </p:txBody>
      </p:sp>
      <p:sp>
        <p:nvSpPr>
          <p:cNvPr id="108" name="text-107"/>
          <p:cNvSpPr txBox="1"/>
          <p:nvPr/>
        </p:nvSpPr>
        <p:spPr>
          <a:xfrm>
            <a:off x="9100344" y="8416925"/>
            <a:ext cx="1197796" cy="4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Асосий йўналишлар</a:t>
            </a:r>
            <a:endParaRPr lang="en-US" sz="1250" dirty="0"/>
          </a:p>
        </p:txBody>
      </p:sp>
      <p:sp>
        <p:nvSpPr>
          <p:cNvPr id="109" name="box-108"/>
          <p:cNvSpPr/>
          <p:nvPr/>
        </p:nvSpPr>
        <p:spPr>
          <a:xfrm>
            <a:off x="533400" y="9321800"/>
            <a:ext cx="2483048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10" name="tab-109"/>
          <p:cNvSpPr/>
          <p:nvPr/>
        </p:nvSpPr>
        <p:spPr>
          <a:xfrm>
            <a:off x="533400" y="932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11" name="tab-110"/>
          <p:cNvSpPr/>
          <p:nvPr/>
        </p:nvSpPr>
        <p:spPr>
          <a:xfrm>
            <a:off x="825500" y="932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12" name="text-111"/>
          <p:cNvSpPr txBox="1"/>
          <p:nvPr/>
        </p:nvSpPr>
        <p:spPr>
          <a:xfrm>
            <a:off x="747514" y="9721850"/>
            <a:ext cx="244650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5</a:t>
            </a:r>
            <a:endParaRPr lang="en-US" sz="2200" dirty="0"/>
          </a:p>
        </p:txBody>
      </p:sp>
      <p:sp>
        <p:nvSpPr>
          <p:cNvPr id="113" name="text-112"/>
          <p:cNvSpPr txBox="1"/>
          <p:nvPr/>
        </p:nvSpPr>
        <p:spPr>
          <a:xfrm>
            <a:off x="1270000" y="9790113"/>
            <a:ext cx="1318570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Йўл харитаси</a:t>
            </a:r>
            <a:endParaRPr lang="en-US" sz="1250" dirty="0"/>
          </a:p>
        </p:txBody>
      </p:sp>
      <p:sp>
        <p:nvSpPr>
          <p:cNvPr id="114" name="box-113"/>
          <p:cNvSpPr/>
          <p:nvPr/>
        </p:nvSpPr>
        <p:spPr>
          <a:xfrm>
            <a:off x="3143448" y="9321800"/>
            <a:ext cx="2483247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15" name="tab-114"/>
          <p:cNvSpPr/>
          <p:nvPr/>
        </p:nvSpPr>
        <p:spPr>
          <a:xfrm>
            <a:off x="3143448" y="932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16" name="tab-115"/>
          <p:cNvSpPr/>
          <p:nvPr/>
        </p:nvSpPr>
        <p:spPr>
          <a:xfrm>
            <a:off x="3435548" y="932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17" name="text-116"/>
          <p:cNvSpPr txBox="1"/>
          <p:nvPr/>
        </p:nvSpPr>
        <p:spPr>
          <a:xfrm>
            <a:off x="3351411" y="9721850"/>
            <a:ext cx="257937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6</a:t>
            </a:r>
            <a:endParaRPr lang="en-US" sz="2200" dirty="0"/>
          </a:p>
        </p:txBody>
      </p:sp>
      <p:sp>
        <p:nvSpPr>
          <p:cNvPr id="118" name="text-117"/>
          <p:cNvSpPr txBox="1"/>
          <p:nvPr/>
        </p:nvSpPr>
        <p:spPr>
          <a:xfrm>
            <a:off x="3880048" y="9790113"/>
            <a:ext cx="1592032" cy="2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Чора-тадбирлар</a:t>
            </a:r>
            <a:endParaRPr lang="en-US" sz="1250" dirty="0"/>
          </a:p>
        </p:txBody>
      </p:sp>
      <p:sp>
        <p:nvSpPr>
          <p:cNvPr id="119" name="box-118"/>
          <p:cNvSpPr/>
          <p:nvPr/>
        </p:nvSpPr>
        <p:spPr>
          <a:xfrm>
            <a:off x="5753695" y="9321800"/>
            <a:ext cx="2483048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20" name="tab-119"/>
          <p:cNvSpPr/>
          <p:nvPr/>
        </p:nvSpPr>
        <p:spPr>
          <a:xfrm>
            <a:off x="5753695" y="932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21" name="tab-120"/>
          <p:cNvSpPr/>
          <p:nvPr/>
        </p:nvSpPr>
        <p:spPr>
          <a:xfrm>
            <a:off x="6045795" y="932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22" name="text-121"/>
          <p:cNvSpPr txBox="1"/>
          <p:nvPr/>
        </p:nvSpPr>
        <p:spPr>
          <a:xfrm>
            <a:off x="5964436" y="9721850"/>
            <a:ext cx="251722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7</a:t>
            </a:r>
            <a:endParaRPr lang="en-US" sz="2200" dirty="0"/>
          </a:p>
        </p:txBody>
      </p:sp>
      <p:sp>
        <p:nvSpPr>
          <p:cNvPr id="123" name="text-122"/>
          <p:cNvSpPr txBox="1"/>
          <p:nvPr/>
        </p:nvSpPr>
        <p:spPr>
          <a:xfrm>
            <a:off x="6490295" y="9686925"/>
            <a:ext cx="1299255" cy="4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Мақсадли кўрсаткичлар</a:t>
            </a:r>
            <a:endParaRPr lang="en-US" sz="1250" dirty="0"/>
          </a:p>
        </p:txBody>
      </p:sp>
      <p:sp>
        <p:nvSpPr>
          <p:cNvPr id="124" name="box-123"/>
          <p:cNvSpPr/>
          <p:nvPr/>
        </p:nvSpPr>
        <p:spPr>
          <a:xfrm>
            <a:off x="8363744" y="9321800"/>
            <a:ext cx="2483247" cy="1143000"/>
          </a:xfrm>
          <a:prstGeom prst="roundRect">
            <a:avLst>
              <a:gd name="adj" fmla="val 11111"/>
            </a:avLst>
          </a:prstGeom>
          <a:solidFill>
            <a:srgbClr val="F4FAFE"/>
          </a:solidFill>
          <a:ln/>
        </p:spPr>
      </p:sp>
      <p:sp>
        <p:nvSpPr>
          <p:cNvPr id="125" name="tab-124"/>
          <p:cNvSpPr/>
          <p:nvPr/>
        </p:nvSpPr>
        <p:spPr>
          <a:xfrm>
            <a:off x="8363744" y="9321800"/>
            <a:ext cx="584200" cy="1143000"/>
          </a:xfrm>
          <a:prstGeom prst="roundRect">
            <a:avLst>
              <a:gd name="adj" fmla="val 21739"/>
            </a:avLst>
          </a:prstGeom>
          <a:solidFill>
            <a:srgbClr val="1F6DC4"/>
          </a:solidFill>
          <a:ln/>
        </p:spPr>
      </p:sp>
      <p:sp>
        <p:nvSpPr>
          <p:cNvPr id="126" name="tab-125"/>
          <p:cNvSpPr/>
          <p:nvPr/>
        </p:nvSpPr>
        <p:spPr>
          <a:xfrm>
            <a:off x="8655844" y="9321800"/>
            <a:ext cx="292100" cy="1143000"/>
          </a:xfrm>
          <a:prstGeom prst="rect">
            <a:avLst/>
          </a:prstGeom>
          <a:solidFill>
            <a:srgbClr val="1F6DC4"/>
          </a:solidFill>
          <a:ln/>
        </p:spPr>
      </p:sp>
      <p:sp>
        <p:nvSpPr>
          <p:cNvPr id="127" name="text-126"/>
          <p:cNvSpPr txBox="1"/>
          <p:nvPr/>
        </p:nvSpPr>
        <p:spPr>
          <a:xfrm>
            <a:off x="8567539" y="9721850"/>
            <a:ext cx="266938" cy="428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8</a:t>
            </a:r>
            <a:endParaRPr lang="en-US" sz="2200" dirty="0"/>
          </a:p>
        </p:txBody>
      </p:sp>
      <p:sp>
        <p:nvSpPr>
          <p:cNvPr id="128" name="text-127"/>
          <p:cNvSpPr txBox="1"/>
          <p:nvPr/>
        </p:nvSpPr>
        <p:spPr>
          <a:xfrm>
            <a:off x="9100344" y="9583738"/>
            <a:ext cx="1250579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Ҳужжатларга ўзгартиш ва қўшимчалар</a:t>
            </a:r>
            <a:endParaRPr lang="en-US" sz="1250" dirty="0"/>
          </a:p>
        </p:txBody>
      </p:sp>
      <p:sp>
        <p:nvSpPr>
          <p:cNvPr id="129" name="box-128"/>
          <p:cNvSpPr/>
          <p:nvPr/>
        </p:nvSpPr>
        <p:spPr>
          <a:xfrm>
            <a:off x="11354991" y="7696200"/>
            <a:ext cx="7720409" cy="299720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9050">
            <a:solidFill>
              <a:srgbClr val="C9DEF3"/>
            </a:solidFill>
            <a:prstDash val="solid"/>
          </a:ln>
        </p:spPr>
      </p:sp>
      <p:sp>
        <p:nvSpPr>
          <p:cNvPr id="130" name="box-129"/>
          <p:cNvSpPr/>
          <p:nvPr/>
        </p:nvSpPr>
        <p:spPr>
          <a:xfrm>
            <a:off x="13914735" y="7556500"/>
            <a:ext cx="260092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-130"/>
          <p:cNvSpPr txBox="1"/>
          <p:nvPr/>
        </p:nvSpPr>
        <p:spPr>
          <a:xfrm>
            <a:off x="14092535" y="7569200"/>
            <a:ext cx="2501146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ИЖРО ВА НАЗОРАТ</a:t>
            </a:r>
            <a:endParaRPr lang="en-US" sz="1600" dirty="0"/>
          </a:p>
        </p:txBody>
      </p:sp>
      <p:sp>
        <p:nvSpPr>
          <p:cNvPr id="132" name="box-131"/>
          <p:cNvSpPr/>
          <p:nvPr/>
        </p:nvSpPr>
        <p:spPr>
          <a:xfrm>
            <a:off x="11583591" y="8051800"/>
            <a:ext cx="2398713" cy="24130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pic>
        <p:nvPicPr>
          <p:cNvPr id="133" name="icon-132" descr="user-tie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74091" y="8216900"/>
            <a:ext cx="222250" cy="254000"/>
          </a:xfrm>
          <a:prstGeom prst="rect">
            <a:avLst/>
          </a:prstGeom>
        </p:spPr>
      </p:pic>
      <p:sp>
        <p:nvSpPr>
          <p:cNvPr id="134" name="text-133"/>
          <p:cNvSpPr txBox="1"/>
          <p:nvPr/>
        </p:nvSpPr>
        <p:spPr>
          <a:xfrm>
            <a:off x="12097941" y="8228806"/>
            <a:ext cx="1760696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Шахсий масъул</a:t>
            </a:r>
            <a:endParaRPr lang="en-US" sz="1450" dirty="0"/>
          </a:p>
        </p:txBody>
      </p:sp>
      <p:sp>
        <p:nvSpPr>
          <p:cNvPr id="135" name="box-134"/>
          <p:cNvSpPr/>
          <p:nvPr/>
        </p:nvSpPr>
        <p:spPr>
          <a:xfrm>
            <a:off x="11774091" y="8572500"/>
            <a:ext cx="2017713" cy="25400"/>
          </a:xfrm>
          <a:prstGeom prst="rect">
            <a:avLst/>
          </a:prstGeom>
          <a:solidFill>
            <a:srgbClr val="05BAB6"/>
          </a:solidFill>
          <a:ln/>
        </p:spPr>
      </p:sp>
      <p:sp>
        <p:nvSpPr>
          <p:cNvPr id="136" name="text-135"/>
          <p:cNvSpPr txBox="1"/>
          <p:nvPr/>
        </p:nvSpPr>
        <p:spPr>
          <a:xfrm>
            <a:off x="11774091" y="8737600"/>
            <a:ext cx="184844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Ш.К. Курбаниязов</a:t>
            </a:r>
            <a:endParaRPr lang="en-US" sz="12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ТРРИММ директори</a:t>
            </a:r>
            <a:endParaRPr lang="en-US" sz="1250" dirty="0"/>
          </a:p>
        </p:txBody>
      </p:sp>
      <p:sp>
        <p:nvSpPr>
          <p:cNvPr id="137" name="text-136"/>
          <p:cNvSpPr txBox="1"/>
          <p:nvPr/>
        </p:nvSpPr>
        <p:spPr>
          <a:xfrm>
            <a:off x="11774091" y="9302750"/>
            <a:ext cx="1759928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Э.О. Турдимов</a:t>
            </a:r>
            <a:endParaRPr lang="en-US" sz="12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Таълим ва илм-фан вазири</a:t>
            </a:r>
            <a:endParaRPr lang="en-US" sz="1250" dirty="0"/>
          </a:p>
        </p:txBody>
      </p:sp>
      <p:sp>
        <p:nvSpPr>
          <p:cNvPr id="138" name="box-137"/>
          <p:cNvSpPr/>
          <p:nvPr/>
        </p:nvSpPr>
        <p:spPr>
          <a:xfrm>
            <a:off x="14109303" y="8051800"/>
            <a:ext cx="2398713" cy="2413000"/>
          </a:xfrm>
          <a:prstGeom prst="roundRect">
            <a:avLst>
              <a:gd name="adj" fmla="val 6353"/>
            </a:avLst>
          </a:prstGeom>
          <a:solidFill>
            <a:srgbClr val="FFFFFF"/>
          </a:solidFill>
          <a:ln w="9525">
            <a:solidFill>
              <a:srgbClr val="B6E3F9"/>
            </a:solidFill>
            <a:prstDash val="solid"/>
          </a:ln>
        </p:spPr>
      </p:sp>
      <p:pic>
        <p:nvPicPr>
          <p:cNvPr id="139" name="icon-138" descr="eye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99803" y="8216900"/>
            <a:ext cx="285750" cy="254000"/>
          </a:xfrm>
          <a:prstGeom prst="rect">
            <a:avLst/>
          </a:prstGeom>
        </p:spPr>
      </p:pic>
      <p:sp>
        <p:nvSpPr>
          <p:cNvPr id="140" name="text-139"/>
          <p:cNvSpPr txBox="1"/>
          <p:nvPr/>
        </p:nvSpPr>
        <p:spPr>
          <a:xfrm>
            <a:off x="14687153" y="8228806"/>
            <a:ext cx="962597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Назорат</a:t>
            </a:r>
            <a:endParaRPr lang="en-US" sz="1450" dirty="0"/>
          </a:p>
        </p:txBody>
      </p:sp>
      <p:sp>
        <p:nvSpPr>
          <p:cNvPr id="141" name="box-140"/>
          <p:cNvSpPr/>
          <p:nvPr/>
        </p:nvSpPr>
        <p:spPr>
          <a:xfrm>
            <a:off x="14299803" y="8572500"/>
            <a:ext cx="2017713" cy="25400"/>
          </a:xfrm>
          <a:prstGeom prst="rect">
            <a:avLst/>
          </a:prstGeom>
          <a:solidFill>
            <a:srgbClr val="05BAB6"/>
          </a:solidFill>
          <a:ln/>
        </p:spPr>
      </p:sp>
      <p:sp>
        <p:nvSpPr>
          <p:cNvPr id="142" name="text-141"/>
          <p:cNvSpPr txBox="1"/>
          <p:nvPr/>
        </p:nvSpPr>
        <p:spPr>
          <a:xfrm>
            <a:off x="14299803" y="8737600"/>
            <a:ext cx="1158567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А.Н. Арипов</a:t>
            </a:r>
            <a:endParaRPr lang="en-US" sz="12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Бош вазир</a:t>
            </a:r>
            <a:endParaRPr lang="en-US" sz="1250" dirty="0"/>
          </a:p>
        </p:txBody>
      </p:sp>
      <p:sp>
        <p:nvSpPr>
          <p:cNvPr id="143" name="text-142"/>
          <p:cNvSpPr txBox="1"/>
          <p:nvPr/>
        </p:nvSpPr>
        <p:spPr>
          <a:xfrm>
            <a:off x="14299803" y="9302750"/>
            <a:ext cx="1917457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О.А. Хакимов</a:t>
            </a:r>
            <a:endParaRPr lang="en-US" sz="1250" dirty="0"/>
          </a:p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Президент Администрацияси Раҳбари ўринбосари</a:t>
            </a:r>
            <a:endParaRPr lang="en-US" sz="1250" dirty="0"/>
          </a:p>
        </p:txBody>
      </p:sp>
      <p:sp>
        <p:nvSpPr>
          <p:cNvPr id="144" name="box-143"/>
          <p:cNvSpPr/>
          <p:nvPr/>
        </p:nvSpPr>
        <p:spPr>
          <a:xfrm>
            <a:off x="16635016" y="8051800"/>
            <a:ext cx="2211784" cy="2413000"/>
          </a:xfrm>
          <a:prstGeom prst="roundRect">
            <a:avLst>
              <a:gd name="adj" fmla="val 6890"/>
            </a:avLst>
          </a:prstGeom>
          <a:solidFill>
            <a:srgbClr val="F4FAFE"/>
          </a:solidFill>
          <a:ln/>
        </p:spPr>
      </p:sp>
      <p:pic>
        <p:nvPicPr>
          <p:cNvPr id="145" name="icon-144" descr="hourglass-half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812816" y="8367712"/>
            <a:ext cx="228600" cy="304800"/>
          </a:xfrm>
          <a:prstGeom prst="rect">
            <a:avLst/>
          </a:prstGeom>
        </p:spPr>
      </p:pic>
      <p:sp>
        <p:nvSpPr>
          <p:cNvPr id="146" name="text-145"/>
          <p:cNvSpPr txBox="1"/>
          <p:nvPr/>
        </p:nvSpPr>
        <p:spPr>
          <a:xfrm>
            <a:off x="16812816" y="8723313"/>
            <a:ext cx="91566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154B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УЧ ОЙ</a:t>
            </a:r>
            <a:endParaRPr lang="en-US" sz="1800" dirty="0"/>
          </a:p>
        </p:txBody>
      </p:sp>
      <p:sp>
        <p:nvSpPr>
          <p:cNvPr id="147" name="text-146"/>
          <p:cNvSpPr txBox="1"/>
          <p:nvPr/>
        </p:nvSpPr>
        <p:spPr>
          <a:xfrm>
            <a:off x="16812816" y="9066213"/>
            <a:ext cx="189815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333B4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муддатда қонун ҳужжатларига ўзгартишлар бўйича Вазирлар Маҳкамасига таклиф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Таълим соҳасида СИ — слайдлар 07–08</dc:title>
  <dc:subject>PptxGenJS Presentation</dc:subject>
  <dc:creator>PptxGenJS</dc:creator>
  <cp:lastModifiedBy>PptxGenJS</cp:lastModifiedBy>
  <cp:revision>1</cp:revision>
  <dcterms:created xsi:type="dcterms:W3CDTF">2026-10-13T13:02:34Z</dcterms:created>
  <dcterms:modified xsi:type="dcterms:W3CDTF">2026-10-13T13:02:34Z</dcterms:modified>
</cp:coreProperties>
</file>